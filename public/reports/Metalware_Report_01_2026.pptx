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7" r:id="rId2"/>
    <p:sldId id="271" r:id="rId3"/>
    <p:sldId id="258" r:id="rId4"/>
    <p:sldId id="268" r:id="rId5"/>
    <p:sldId id="265" r:id="rId6"/>
    <p:sldId id="272" r:id="rId7"/>
    <p:sldId id="274" r:id="rId8"/>
    <p:sldId id="277" r:id="rId9"/>
    <p:sldId id="278" r:id="rId10"/>
    <p:sldId id="288" r:id="rId11"/>
  </p:sldIdLst>
  <p:sldSz cx="9144000" cy="5143500" type="screen16x9"/>
  <p:notesSz cx="6858000" cy="9144000"/>
  <p:embeddedFontLst>
    <p:embeddedFont>
      <p:font typeface="Aptos Narrow" panose="020B0604020202020204" charset="0"/>
      <p:regular r:id="rId13"/>
      <p:bold r:id="rId14"/>
      <p:italic r:id="rId15"/>
      <p:boldItalic r:id="rId16"/>
    </p:embeddedFont>
    <p:embeddedFont>
      <p:font typeface="Roboto" panose="020B0604020202020204" charset="0"/>
      <p:regular r:id="rId17"/>
      <p:bold r:id="rId18"/>
      <p:italic r:id="rId19"/>
      <p:boldItalic r:id="rId20"/>
    </p:embeddedFont>
    <p:embeddedFont>
      <p:font typeface="Calibri" panose="020F0502020204030204" pitchFamily="34" charset="0"/>
      <p:regular r:id="rId21"/>
      <p:bold r:id="rId22"/>
      <p:italic r:id="rId23"/>
      <p:boldItalic r:id="rId24"/>
    </p:embeddedFont>
    <p:embeddedFont>
      <p:font typeface="Inter Medium" panose="020B0604020202020204" charset="0"/>
      <p:regular r:id="rId25"/>
      <p: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C48F"/>
    <a:srgbClr val="8FB266"/>
    <a:srgbClr val="388076"/>
    <a:srgbClr val="F7BA19"/>
    <a:srgbClr val="42968B"/>
    <a:srgbClr val="313D4E"/>
    <a:srgbClr val="3AB8A0"/>
    <a:srgbClr val="FCED25"/>
    <a:srgbClr val="29434D"/>
    <a:srgbClr val="F8BC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5A3B5F-57DA-D247-910B-9A4759B72DFB}" v="229" dt="2025-06-11T08:20:01.061"/>
    <p1510:client id="{D9CA7E59-0842-4A56-B618-16CF46FC93E0}" v="31" dt="2025-06-11T09:16:37.0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179" autoAdjust="0"/>
    <p:restoredTop sz="94620"/>
  </p:normalViewPr>
  <p:slideViewPr>
    <p:cSldViewPr snapToGrid="0">
      <p:cViewPr varScale="1">
        <p:scale>
          <a:sx n="83" d="100"/>
          <a:sy n="83" d="100"/>
        </p:scale>
        <p:origin x="510"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 Id="rId21" Type="http://schemas.openxmlformats.org/officeDocument/2006/relationships/font" Target="fonts/font9.fntdata"/><Relationship Id="rId22" Type="http://schemas.openxmlformats.org/officeDocument/2006/relationships/font" Target="fonts/font10.fntdata"/><Relationship Id="rId23" Type="http://schemas.openxmlformats.org/officeDocument/2006/relationships/font" Target="fonts/font11.fntdata"/><Relationship Id="rId24" Type="http://schemas.openxmlformats.org/officeDocument/2006/relationships/font" Target="fonts/font12.fntdata"/><Relationship Id="rId25" Type="http://schemas.openxmlformats.org/officeDocument/2006/relationships/font" Target="fonts/font13.fntdata"/><Relationship Id="rId26" Type="http://schemas.openxmlformats.org/officeDocument/2006/relationships/font" Target="fonts/font14.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file:///C:\Users\hp\Desktop\Clients\Metalware%20Noida\Handover%20Data%20Analysis\August%20handover\Monthly%20Report%20Aug%202025.xlsb.xlsx" TargetMode="Externa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9.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s>
</file>

<file path=ppt/charts/_rels/chart10.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Sheet8.xlsx"/></Relationships>
</file>

<file path=ppt/charts/_rels/chart11.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s>
</file>

<file path=ppt/charts/_rels/chart12.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4.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Sheet11.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1"/>
          <c:order val="0"/>
          <c:tx>
            <c:strRef>
              <c:f>Sheet1!$B$1</c:f>
              <c:strCache>
                <c:ptCount val="1"/>
                <c:pt idx="0">
                  <c:v>Energy Share</c:v>
                </c:pt>
              </c:strCache>
            </c:strRef>
          </c:tx>
          <c:spPr>
            <a:solidFill>
              <a:schemeClr val="accent4">
                <a:lumMod val="50000"/>
              </a:schemeClr>
            </a:solidFill>
            <a:ln w="25400" cap="flat" cmpd="sng" algn="ctr">
              <a:noFill/>
              <a:miter lim="800000"/>
            </a:ln>
            <a:effectLst/>
          </c:spPr>
          <c:invertIfNegative val="0"/>
          <c:dPt>
            <c:idx val="0"/>
            <c:invertIfNegative val="1"/>
            <c:bubble3D val="0"/>
            <c:spPr>
              <a:solidFill>
                <a:srgbClr val="993300"/>
              </a:solidFill>
              <a:ln w="25400" cap="flat" cmpd="sng" algn="ctr">
                <a:noFill/>
                <a:miter lim="800000"/>
              </a:ln>
              <a:effectLst/>
            </c:spPr>
            <c:extLst>
              <c:ext xmlns:c16="http://schemas.microsoft.com/office/drawing/2014/chart" uri="{C3380CC4-5D6E-409C-BE32-E72D297353CC}">
                <c16:uniqueId val="{00000003-4A31-420E-BC8D-FE94856C72F7}"/>
              </c:ext>
            </c:extLst>
          </c:dPt>
          <c:dPt>
            <c:idx val="1"/>
            <c:invertIfNegative val="1"/>
            <c:bubble3D val="0"/>
            <c:spPr>
              <a:solidFill>
                <a:srgbClr val="993300"/>
              </a:solidFill>
              <a:ln w="25400" cap="flat" cmpd="sng" algn="ctr">
                <a:solidFill>
                  <a:schemeClr val="accent2"/>
                </a:solidFill>
                <a:miter lim="800000"/>
              </a:ln>
              <a:effectLst/>
            </c:spPr>
            <c:extLst>
              <c:ext xmlns:c16="http://schemas.microsoft.com/office/drawing/2014/chart" uri="{C3380CC4-5D6E-409C-BE32-E72D297353CC}">
                <c16:uniqueId val="{00000005-4A31-420E-BC8D-FE94856C72F7}"/>
              </c:ext>
            </c:extLst>
          </c:dPt>
          <c:dPt>
            <c:idx val="2"/>
            <c:invertIfNegative val="1"/>
            <c:bubble3D val="0"/>
            <c:spPr>
              <a:solidFill>
                <a:srgbClr val="993300"/>
              </a:solidFill>
              <a:ln w="25400" cap="flat" cmpd="sng" algn="ctr">
                <a:solidFill>
                  <a:schemeClr val="accent2"/>
                </a:solidFill>
                <a:miter lim="800000"/>
              </a:ln>
              <a:effectLst/>
            </c:spPr>
            <c:extLst>
              <c:ext xmlns:c16="http://schemas.microsoft.com/office/drawing/2014/chart" uri="{C3380CC4-5D6E-409C-BE32-E72D297353CC}">
                <c16:uniqueId val="{00000007-4A31-420E-BC8D-FE94856C72F7}"/>
              </c:ext>
            </c:extLst>
          </c:dPt>
          <c:dPt>
            <c:idx val="3"/>
            <c:invertIfNegative val="0"/>
            <c:bubble3D val="0"/>
            <c:spPr>
              <a:solidFill>
                <a:srgbClr val="993300"/>
              </a:solidFill>
              <a:ln w="25400" cap="flat" cmpd="sng" algn="ctr">
                <a:noFill/>
                <a:miter lim="800000"/>
              </a:ln>
              <a:effectLst/>
            </c:spPr>
            <c:extLst>
              <c:ext xmlns:c16="http://schemas.microsoft.com/office/drawing/2014/chart" uri="{C3380CC4-5D6E-409C-BE32-E72D297353CC}">
                <c16:uniqueId val="{00000001-8245-4D87-88BF-F32D044E5CD1}"/>
              </c:ext>
            </c:extLst>
          </c:dPt>
          <c:dLbls>
            <c:dLbl>
              <c:idx val="0"/>
              <c:layout/>
              <c:tx>
                <c:rich>
                  <a:bodyPr/>
                  <a:lstStyle/>
                  <a:p>
                    <a:r>
                      <a:rPr lang="en-US" smtClean="0"/>
                      <a:t>DC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4A31-420E-BC8D-FE94856C72F7}"/>
                </c:ext>
              </c:extLst>
            </c:dLbl>
            <c:dLbl>
              <c:idx val="1"/>
              <c:layout/>
              <c:tx>
                <c:rich>
                  <a:bodyPr/>
                  <a:lstStyle/>
                  <a:p>
                    <a:r>
                      <a:rPr lang="en-US" smtClean="0"/>
                      <a:t>WSC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4A31-420E-BC8D-FE94856C72F7}"/>
                </c:ext>
              </c:extLst>
            </c:dLbl>
            <c:dLbl>
              <c:idx val="2"/>
              <c:layout/>
              <c:tx>
                <c:rich>
                  <a:bodyPr/>
                  <a:lstStyle/>
                  <a:p>
                    <a:r>
                      <a:rPr lang="en-US" smtClean="0"/>
                      <a:t>RTSC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4A31-420E-BC8D-FE94856C72F7}"/>
                </c:ext>
              </c:extLst>
            </c:dLbl>
            <c:dLbl>
              <c:idx val="3"/>
              <c:layout/>
              <c:tx>
                <c:rich>
                  <a:bodyPr/>
                  <a:lstStyle/>
                  <a:p>
                    <a:r>
                      <a:rPr lang="en-US" dirty="0" smtClean="0"/>
                      <a:t>GC</a:t>
                    </a:r>
                  </a:p>
                </c:rich>
              </c:tx>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8245-4D87-88BF-F32D044E5CD1}"/>
                </c:ext>
              </c:extLst>
            </c:dLbl>
            <c:numFmt formatCode="#,##0.0" sourceLinked="0"/>
            <c:spPr>
              <a:noFill/>
              <a:ln>
                <a:noFill/>
              </a:ln>
              <a:effectLst/>
            </c:spPr>
            <c:txPr>
              <a:bodyPr rot="0" spcFirstLastPara="1" vertOverflow="ellipsis" vert="horz" wrap="square" anchor="ctr" anchorCtr="1"/>
              <a:lstStyle/>
              <a:p>
                <a:pPr>
                  <a:defRPr sz="1000" b="1" i="0" u="none" strike="noStrike" kern="1200" baseline="0">
                    <a:solidFill>
                      <a:srgbClr val="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DIESEL</c:v>
                </c:pt>
                <c:pt idx="1">
                  <c:v>Wheeled-In Solar</c:v>
                </c:pt>
                <c:pt idx="2">
                  <c:v>Rooftop Solar</c:v>
                </c:pt>
                <c:pt idx="3">
                  <c:v>GRID</c:v>
                </c:pt>
              </c:strCache>
            </c:strRef>
          </c:cat>
          <c:val>
            <c:numRef>
              <c:f>Sheet1!$B$2:$B$5</c:f>
              <c:numCache>
                <c:formatCode>General</c:formatCode>
                <c:ptCount val="4"/>
                <c:pt idx="0">
                  <c:v>3091.1000000000004</c:v>
                </c:pt>
                <c:pt idx="1">
                  <c:v>0</c:v>
                </c:pt>
                <c:pt idx="2">
                  <c:v>0</c:v>
                </c:pt>
                <c:pt idx="3">
                  <c:v>218287.6000000001</c:v>
                </c:pt>
              </c:numCache>
            </c:numRef>
          </c:val>
          <c:extLst>
            <c:ext xmlns:c16="http://schemas.microsoft.com/office/drawing/2014/chart" uri="{C3380CC4-5D6E-409C-BE32-E72D297353CC}">
              <c16:uniqueId val="{00000000-8245-4D87-88BF-F32D044E5CD1}"/>
            </c:ext>
          </c:extLst>
        </c:ser>
        <c:dLbls>
          <c:dLblPos val="inEnd"/>
          <c:showLegendKey val="0"/>
          <c:showVal val="1"/>
          <c:showCatName val="0"/>
          <c:showSerName val="0"/>
          <c:showPercent val="0"/>
          <c:showBubbleSize val="0"/>
        </c:dLbls>
        <c:gapWidth val="135"/>
        <c:overlap val="-48"/>
        <c:axId val="723858872"/>
        <c:axId val="723862112"/>
      </c:barChart>
      <c:catAx>
        <c:axId val="723858872"/>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723862112"/>
        <c:crosses val="autoZero"/>
        <c:auto val="1"/>
        <c:lblAlgn val="ctr"/>
        <c:lblOffset val="100"/>
        <c:noMultiLvlLbl val="0"/>
      </c:catAx>
      <c:valAx>
        <c:axId val="723862112"/>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723858872"/>
        <c:crosses val="autoZero"/>
        <c:crossBetween val="between"/>
      </c:valAx>
      <c:spPr>
        <a:noFill/>
        <a:ln>
          <a:noFill/>
        </a:ln>
        <a:effectLst/>
      </c:spPr>
    </c:plotArea>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
                </c:pt>
              </c:strCache>
            </c:strRef>
          </c:tx>
          <c:spPr>
            <a:ln>
              <a:noFill/>
            </a:ln>
          </c:spPr>
          <c:dPt>
            <c:idx val="0"/>
            <c:bubble3D val="0"/>
            <c:spPr>
              <a:pattFill prst="ltUpDiag">
                <a:fgClr>
                  <a:schemeClr val="accent2"/>
                </a:fgClr>
                <a:bgClr>
                  <a:schemeClr val="accent2">
                    <a:lumMod val="20000"/>
                    <a:lumOff val="80000"/>
                  </a:schemeClr>
                </a:bgClr>
              </a:pattFill>
              <a:ln w="19050">
                <a:noFill/>
              </a:ln>
              <a:effectLst>
                <a:innerShdw blurRad="114300">
                  <a:schemeClr val="accent2"/>
                </a:innerShdw>
              </a:effectLst>
            </c:spPr>
            <c:extLst>
              <c:ext xmlns:c16="http://schemas.microsoft.com/office/drawing/2014/chart" uri="{C3380CC4-5D6E-409C-BE32-E72D297353CC}">
                <c16:uniqueId val="{00000001-349C-4089-A242-3052ADC0673D}"/>
              </c:ext>
            </c:extLst>
          </c:dPt>
          <c:dPt>
            <c:idx val="1"/>
            <c:bubble3D val="0"/>
            <c:spPr>
              <a:pattFill prst="ltUpDiag">
                <a:fgClr>
                  <a:schemeClr val="accent4"/>
                </a:fgClr>
                <a:bgClr>
                  <a:schemeClr val="accent4">
                    <a:lumMod val="20000"/>
                    <a:lumOff val="80000"/>
                  </a:schemeClr>
                </a:bgClr>
              </a:pattFill>
              <a:ln w="19050">
                <a:noFill/>
              </a:ln>
              <a:effectLst>
                <a:innerShdw blurRad="114300">
                  <a:schemeClr val="accent4"/>
                </a:innerShdw>
              </a:effectLst>
            </c:spPr>
            <c:extLst>
              <c:ext xmlns:c16="http://schemas.microsoft.com/office/drawing/2014/chart" uri="{C3380CC4-5D6E-409C-BE32-E72D297353CC}">
                <c16:uniqueId val="{00000003-349C-4089-A242-3052ADC0673D}"/>
              </c:ext>
            </c:extLst>
          </c:dPt>
          <c:dLbls>
            <c:dLbl>
              <c:idx val="0"/>
              <c:layout>
                <c:manualLayout>
                  <c:x val="-0.19615549974238594"/>
                  <c:y val="7.2451189169321445E-2"/>
                </c:manualLayout>
              </c:layout>
              <c:tx>
                <c:rich>
                  <a:bodyPr/>
                  <a:lstStyle/>
                  <a:p>
                    <a:fld id="{38976908-2079-E845-B677-AA7D8DC58D66}" type="VALUE">
                      <a:rPr lang="en-US" smtClean="0"/>
                      <a:pPr/>
                      <a:t>[VALUE]</a:t>
                    </a:fld>
                    <a:r>
                      <a:rPr lang="en-US" baseline="0"/>
                      <a:t> (</a:t>
                    </a:r>
                    <a:fld id="{DB8D87D8-26E8-C148-B3B0-94DF20358410}" type="PERCENTAGE">
                      <a:rPr lang="en-US" baseline="0" smtClean="0"/>
                      <a:pPr/>
                      <a:t>[PERCENTAGE]</a:t>
                    </a:fld>
                    <a:r>
                      <a:rPr lang="en-US" baseline="0"/>
                      <a:t>)</a:t>
                    </a: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49C-4089-A242-3052ADC0673D}"/>
                </c:ext>
              </c:extLst>
            </c:dLbl>
            <c:dLbl>
              <c:idx val="1"/>
              <c:layout>
                <c:manualLayout>
                  <c:x val="-0.17566164156034572"/>
                  <c:y val="-2.5875424703329087E-2"/>
                </c:manualLayout>
              </c:layout>
              <c:tx>
                <c:rich>
                  <a:bodyPr/>
                  <a:lstStyle/>
                  <a:p>
                    <a:fld id="{CDA75B00-6051-7043-8E1B-6A09505F80D4}" type="VALUE">
                      <a:rPr lang="en-US" smtClean="0"/>
                      <a:pPr/>
                      <a:t>[VALUE]</a:t>
                    </a:fld>
                    <a:r>
                      <a:rPr lang="en-US" baseline="0"/>
                      <a:t> (</a:t>
                    </a:r>
                    <a:fld id="{C9DCEA07-06F7-6D42-90F0-C3FCF6B9A8B9}" type="PERCENTAGE">
                      <a:rPr lang="en-US" baseline="0" smtClean="0"/>
                      <a:pPr/>
                      <a:t>[PERCENTAGE]</a:t>
                    </a:fld>
                    <a:r>
                      <a:rPr lang="en-US" baseline="0"/>
                      <a:t>)</a:t>
                    </a: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49C-4089-A242-3052ADC0673D}"/>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Sheet1!$A$2:$A$3</c:f>
              <c:strCache>
                <c:ptCount val="2"/>
                <c:pt idx="0">
                  <c:v>Weekday</c:v>
                </c:pt>
                <c:pt idx="1">
                  <c:v>Weekend</c:v>
                </c:pt>
              </c:strCache>
            </c:strRef>
          </c:cat>
          <c:val>
            <c:numRef>
              <c:f>Sheet1!$B$2:$B$3</c:f>
              <c:numCache>
                <c:formatCode>General</c:formatCode>
                <c:ptCount val="2"/>
                <c:pt idx="0">
                  <c:v>195810.1</c:v>
                </c:pt>
                <c:pt idx="1">
                  <c:v>13208.0</c:v>
                </c:pt>
              </c:numCache>
            </c:numRef>
          </c:val>
          <c:extLst>
            <c:ext xmlns:c16="http://schemas.microsoft.com/office/drawing/2014/chart" uri="{C3380CC4-5D6E-409C-BE32-E72D297353CC}">
              <c16:uniqueId val="{00000004-349C-4089-A242-3052ADC0673D}"/>
            </c:ext>
          </c:extLst>
        </c:ser>
        <c:dLbls>
          <c:showLegendKey val="0"/>
          <c:showVal val="1"/>
          <c:showCatName val="0"/>
          <c:showSerName val="0"/>
          <c:showPercent val="0"/>
          <c:showBubbleSize val="0"/>
          <c:showLeaderLines val="1"/>
        </c:dLbls>
        <c:firstSliceAng val="0"/>
        <c:holeSize val="70"/>
      </c:doughnutChart>
      <c:spPr>
        <a:noFill/>
        <a:ln>
          <a:noFill/>
        </a:ln>
        <a:effectLst/>
      </c:spPr>
    </c:plotArea>
    <c:legend>
      <c:legendPos val="t"/>
      <c:legendEntry>
        <c:idx val="0"/>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Entry>
      <c:layout>
        <c:manualLayout>
          <c:xMode val="edge"/>
          <c:yMode val="edge"/>
          <c:x val="0.31472756884979658"/>
          <c:y val="8.7976443991318903E-2"/>
          <c:w val="0.347123079565272"/>
          <c:h val="9.358061274635645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Total Energy (kVAh)</c:v>
                </c:pt>
              </c:strCache>
            </c:strRef>
          </c:tx>
          <c:spPr>
            <a:solidFill>
              <a:srgbClr val="FFC000"/>
            </a:solidFill>
            <a:ln w="25400" cap="flat" cmpd="sng" algn="ctr">
              <a:noFill/>
              <a:miter lim="800000"/>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Sunday</c:v>
                </c:pt>
                <c:pt idx="1">
                  <c:v>Saturday</c:v>
                </c:pt>
                <c:pt idx="2">
                  <c:v>Friday</c:v>
                </c:pt>
                <c:pt idx="3">
                  <c:v>Thursday</c:v>
                </c:pt>
                <c:pt idx="4">
                  <c:v>Wednesday</c:v>
                </c:pt>
                <c:pt idx="5">
                  <c:v>Tuesday</c:v>
                </c:pt>
                <c:pt idx="6">
                  <c:v>Monday</c:v>
                </c:pt>
              </c:strCache>
            </c:strRef>
          </c:cat>
          <c:val>
            <c:numRef>
              <c:f>Sheet1!$B$2:$B$8</c:f>
              <c:numCache>
                <c:formatCode>General</c:formatCode>
                <c:ptCount val="7"/>
                <c:pt idx="0">
                  <c:v>13208.0</c:v>
                </c:pt>
                <c:pt idx="1">
                  <c:v>42098.7</c:v>
                </c:pt>
                <c:pt idx="2">
                  <c:v>42271.3</c:v>
                </c:pt>
                <c:pt idx="3">
                  <c:v>40835.5</c:v>
                </c:pt>
                <c:pt idx="4">
                  <c:v>33398.7</c:v>
                </c:pt>
                <c:pt idx="5">
                  <c:v>25492.4</c:v>
                </c:pt>
                <c:pt idx="6">
                  <c:v>11713.5</c:v>
                </c:pt>
              </c:numCache>
            </c:numRef>
          </c:val>
          <c:extLst>
            <c:ext xmlns:c16="http://schemas.microsoft.com/office/drawing/2014/chart" uri="{C3380CC4-5D6E-409C-BE32-E72D297353CC}">
              <c16:uniqueId val="{00000000-3F67-4B41-90FA-97CF59273F6B}"/>
            </c:ext>
          </c:extLst>
        </c:ser>
        <c:dLbls>
          <c:dLblPos val="inEnd"/>
          <c:showLegendKey val="0"/>
          <c:showVal val="1"/>
          <c:showCatName val="0"/>
          <c:showSerName val="0"/>
          <c:showPercent val="0"/>
          <c:showBubbleSize val="0"/>
        </c:dLbls>
        <c:gapWidth val="227"/>
        <c:overlap val="-48"/>
        <c:axId val="805322016"/>
        <c:axId val="805311216"/>
      </c:barChart>
      <c:catAx>
        <c:axId val="80532201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805311216"/>
        <c:crosses val="autoZero"/>
        <c:auto val="1"/>
        <c:lblAlgn val="ctr"/>
        <c:lblOffset val="100"/>
        <c:noMultiLvlLbl val="0"/>
      </c:catAx>
      <c:valAx>
        <c:axId val="805311216"/>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322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030039248548486"/>
          <c:y val="0.2022249578000623"/>
          <c:w val="0.40383455753460967"/>
          <c:h val="0.67444554565733361"/>
        </c:manualLayout>
      </c:layout>
      <c:pieChart>
        <c:varyColors val="1"/>
        <c:ser>
          <c:idx val="0"/>
          <c:order val="0"/>
          <c:tx>
            <c:strRef>
              <c:f>Sheet1!$B$1</c:f>
              <c:strCache>
                <c:ptCount val="1"/>
                <c:pt idx="0">
                  <c:v/>
                </c:pt>
              </c:strCache>
            </c:strRef>
          </c:tx>
          <c:dPt>
            <c:idx val="0"/>
            <c:bubble3D val="0"/>
            <c:spPr>
              <a:solidFill>
                <a:srgbClr val="FFC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8069-4D8B-9FEF-BFCF0CEF67CE}"/>
              </c:ext>
            </c:extLst>
          </c:dPt>
          <c:dPt>
            <c:idx val="1"/>
            <c:bubble3D val="0"/>
            <c:spPr>
              <a:solidFill>
                <a:srgbClr val="42968B"/>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8069-4D8B-9FEF-BFCF0CEF67CE}"/>
              </c:ext>
            </c:extLst>
          </c:dPt>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Day</c:v>
                </c:pt>
                <c:pt idx="1">
                  <c:v>Night</c:v>
                </c:pt>
              </c:strCache>
            </c:strRef>
          </c:cat>
          <c:val>
            <c:numRef>
              <c:f>Sheet1!$B$2:$B$3</c:f>
              <c:numCache>
                <c:formatCode>General</c:formatCode>
                <c:ptCount val="2"/>
                <c:pt idx="0">
                  <c:v>104681.2</c:v>
                </c:pt>
                <c:pt idx="1">
                  <c:v>99802.2</c:v>
                </c:pt>
              </c:numCache>
            </c:numRef>
          </c:val>
          <c:extLst>
            <c:ext xmlns:c16="http://schemas.microsoft.com/office/drawing/2014/chart" uri="{C3380CC4-5D6E-409C-BE32-E72D297353CC}">
              <c16:uniqueId val="{00000004-8069-4D8B-9FEF-BFCF0CEF67CE}"/>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layout>
        <c:manualLayout>
          <c:xMode val="edge"/>
          <c:yMode val="edge"/>
          <c:x val="0.70108579099934165"/>
          <c:y val="0.58762877764417243"/>
          <c:w val="0.27842744550382009"/>
          <c:h val="0.1319454620005886"/>
        </c:manualLayout>
      </c:layout>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
                </c:pt>
              </c:strCache>
            </c:strRef>
          </c:tx>
          <c:spPr>
            <a:solidFill>
              <a:schemeClr val="accent1"/>
            </a:solidFill>
            <a:ln>
              <a:noFill/>
            </a:ln>
            <a:effectLst/>
            <a:scene3d>
              <a:camera prst="orthographicFront"/>
              <a:lightRig rig="brightRoom" dir="t"/>
            </a:scene3d>
            <a:sp3d prstMaterial="flat">
              <a:bevelT w="50800" h="101600" prst="angle"/>
              <a:contourClr>
                <a:srgbClr val="000000"/>
              </a:contourClr>
            </a:sp3d>
          </c:spPr>
          <c:invertIfNegative val="0"/>
          <c:dPt>
            <c:idx val="0"/>
            <c:invertIfNegative val="0"/>
            <c:bubble3D val="0"/>
            <c:spPr>
              <a:solidFill>
                <a:srgbClr val="FFC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6D47-4D89-B653-154169F1BBF2}"/>
              </c:ext>
            </c:extLst>
          </c:dPt>
          <c:dPt>
            <c:idx val="1"/>
            <c:invertIfNegative val="0"/>
            <c:bubble3D val="0"/>
            <c:spPr>
              <a:solidFill>
                <a:srgbClr val="42968B"/>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6D47-4D89-B653-154169F1BBF2}"/>
              </c:ext>
            </c:extLst>
          </c:dPt>
          <c:dLbls>
            <c:dLbl>
              <c:idx val="0"/>
              <c:tx>
                <c:rich>
                  <a:bodyPr/>
                  <a:lstStyle/>
                  <a:p>
                    <a:r>
                      <a:rPr lang="en-US" sz="900" b="0" i="0" u="none" strike="noStrike" baseline="0" dirty="0">
                        <a:effectLst/>
                      </a:rPr>
                      <a:t> ₹</a:t>
                    </a:r>
                    <a:fld id="{694A5A2B-B664-4149-BA58-F3743011E22A}" type="VALUE">
                      <a:rPr lang="en-US" smtClean="0"/>
                      <a:pPr/>
                      <a:t>[VALUE]</a:t>
                    </a:fld>
                    <a:r>
                      <a:rPr lang="en-US" dirty="0"/>
                      <a:t> </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D47-4D89-B653-154169F1BBF2}"/>
                </c:ext>
              </c:extLst>
            </c:dLbl>
            <c:dLbl>
              <c:idx val="1"/>
              <c:layout>
                <c:manualLayout>
                  <c:x val="-0.18416977873368456"/>
                  <c:y val="-1.6323468676042917E-2"/>
                </c:manualLayout>
              </c:layout>
              <c:tx>
                <c:rich>
                  <a:bodyPr/>
                  <a:lstStyle/>
                  <a:p>
                    <a:r>
                      <a:rPr lang="en-US" sz="900" b="0" i="0" u="none" strike="noStrike" baseline="0" dirty="0">
                        <a:effectLst/>
                      </a:rPr>
                      <a:t> ₹</a:t>
                    </a:r>
                    <a:fld id="{409BED27-62D5-5643-B819-27B246F62813}" type="VALUE">
                      <a:rPr lang="en-US" smtClean="0"/>
                      <a:pPr/>
                      <a:t>[VALUE]</a:t>
                    </a:fld>
                    <a:r>
                      <a:rPr lang="en-US" dirty="0"/>
                      <a:t> </a:t>
                    </a:r>
                  </a:p>
                </c:rich>
              </c:tx>
              <c:dLblPos val="outEnd"/>
              <c:showLegendKey val="0"/>
              <c:showVal val="1"/>
              <c:showCatName val="0"/>
              <c:showSerName val="0"/>
              <c:showPercent val="0"/>
              <c:showBubbleSize val="0"/>
              <c:extLst>
                <c:ext xmlns:c15="http://schemas.microsoft.com/office/drawing/2012/chart" uri="{CE6537A1-D6FC-4f65-9D91-7224C49458BB}">
                  <c15:layout>
                    <c:manualLayout>
                      <c:w val="0.26551814445747046"/>
                      <c:h val="0.17378596852609371"/>
                    </c:manualLayout>
                  </c15:layout>
                  <c15:dlblFieldTable/>
                  <c15:showDataLabelsRange val="0"/>
                </c:ext>
                <c:ext xmlns:c16="http://schemas.microsoft.com/office/drawing/2014/chart" uri="{C3380CC4-5D6E-409C-BE32-E72D297353CC}">
                  <c16:uniqueId val="{00000003-6D47-4D89-B653-154169F1BBF2}"/>
                </c:ext>
              </c:extLst>
            </c:dLbl>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Day</c:v>
                </c:pt>
                <c:pt idx="1">
                  <c:v>Night</c:v>
                </c:pt>
              </c:strCache>
            </c:strRef>
          </c:cat>
          <c:val>
            <c:numRef>
              <c:f>Sheet1!$B$2:$B$3</c:f>
              <c:numCache>
                <c:formatCode>General</c:formatCode>
                <c:ptCount val="2"/>
                <c:pt idx="0">
                  <c:v>722906.1</c:v>
                </c:pt>
                <c:pt idx="1">
                  <c:v>773303.1</c:v>
                </c:pt>
              </c:numCache>
            </c:numRef>
          </c:val>
          <c:extLst>
            <c:ext xmlns:c16="http://schemas.microsoft.com/office/drawing/2014/chart" uri="{C3380CC4-5D6E-409C-BE32-E72D297353CC}">
              <c16:uniqueId val="{00000004-6D47-4D89-B653-154169F1BBF2}"/>
            </c:ext>
          </c:extLst>
        </c:ser>
        <c:dLbls>
          <c:showLegendKey val="0"/>
          <c:showVal val="0"/>
          <c:showCatName val="0"/>
          <c:showSerName val="0"/>
          <c:showPercent val="0"/>
          <c:showBubbleSize val="0"/>
        </c:dLbls>
        <c:gapWidth val="100"/>
        <c:axId val="367357424"/>
        <c:axId val="367361384"/>
      </c:barChart>
      <c:valAx>
        <c:axId val="36736138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367357424"/>
        <c:crosses val="autoZero"/>
        <c:crossBetween val="between"/>
      </c:valAx>
      <c:catAx>
        <c:axId val="367357424"/>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367361384"/>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129626535302614E-2"/>
          <c:y val="8.911969909907938E-2"/>
          <c:w val="0.5108846276548461"/>
          <c:h val="0.83405791550657959"/>
        </c:manualLayout>
      </c:layout>
      <c:doughnutChart>
        <c:varyColors val="1"/>
        <c:ser>
          <c:idx val="0"/>
          <c:order val="0"/>
          <c:tx>
            <c:strRef>
              <c:f>Sheet1!$B$1</c:f>
              <c:strCache>
                <c:ptCount val="1"/>
                <c:pt idx="0">
                  <c:v>Consumption</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C7B2-4EAE-AAEE-BB3CCED298A5}"/>
              </c:ext>
            </c:extLst>
          </c:dPt>
          <c:dPt>
            <c:idx val="1"/>
            <c:bubble3D val="0"/>
            <c:spPr>
              <a:solidFill>
                <a:srgbClr val="00B050"/>
              </a:solidFill>
              <a:ln w="19050">
                <a:noFill/>
              </a:ln>
              <a:effectLst/>
            </c:spPr>
            <c:extLst>
              <c:ext xmlns:c16="http://schemas.microsoft.com/office/drawing/2014/chart" uri="{C3380CC4-5D6E-409C-BE32-E72D297353CC}">
                <c16:uniqueId val="{00000003-C7B2-4EAE-AAEE-BB3CCED298A5}"/>
              </c:ext>
            </c:extLst>
          </c:dPt>
          <c:dPt>
            <c:idx val="2"/>
            <c:bubble3D val="0"/>
            <c:spPr>
              <a:solidFill>
                <a:schemeClr val="accent3"/>
              </a:solidFill>
              <a:ln w="19050">
                <a:noFill/>
              </a:ln>
              <a:effectLst/>
            </c:spPr>
            <c:extLst>
              <c:ext xmlns:c16="http://schemas.microsoft.com/office/drawing/2014/chart" uri="{C3380CC4-5D6E-409C-BE32-E72D297353CC}">
                <c16:uniqueId val="{00000005-C7B2-4EAE-AAEE-BB3CCED298A5}"/>
              </c:ext>
            </c:extLst>
          </c:dPt>
          <c:dPt>
            <c:idx val="3"/>
            <c:bubble3D val="0"/>
            <c:spPr>
              <a:solidFill>
                <a:schemeClr val="accent4"/>
              </a:solidFill>
              <a:ln w="19050">
                <a:noFill/>
              </a:ln>
              <a:effectLst/>
            </c:spPr>
            <c:extLst>
              <c:ext xmlns:c16="http://schemas.microsoft.com/office/drawing/2014/chart" uri="{C3380CC4-5D6E-409C-BE32-E72D297353CC}">
                <c16:uniqueId val="{00000007-C7B2-4EAE-AAEE-BB3CCED298A5}"/>
              </c:ext>
            </c:extLst>
          </c:dPt>
          <c:dPt>
            <c:idx val="4"/>
            <c:bubble3D val="0"/>
            <c:spPr>
              <a:solidFill>
                <a:schemeClr val="accent5"/>
              </a:solidFill>
              <a:ln w="19050">
                <a:noFill/>
              </a:ln>
              <a:effectLst/>
            </c:spPr>
            <c:extLst>
              <c:ext xmlns:c16="http://schemas.microsoft.com/office/drawing/2014/chart" uri="{C3380CC4-5D6E-409C-BE32-E72D297353CC}">
                <c16:uniqueId val="{00000009-C7B2-4EAE-AAEE-BB3CCED298A5}"/>
              </c:ext>
            </c:extLst>
          </c:dPt>
          <c:dPt>
            <c:idx val="5"/>
            <c:bubble3D val="0"/>
            <c:spPr>
              <a:solidFill>
                <a:schemeClr val="accent6"/>
              </a:solidFill>
              <a:ln w="19050">
                <a:noFill/>
              </a:ln>
              <a:effectLst/>
            </c:spPr>
            <c:extLst>
              <c:ext xmlns:c16="http://schemas.microsoft.com/office/drawing/2014/chart" uri="{C3380CC4-5D6E-409C-BE32-E72D297353CC}">
                <c16:uniqueId val="{0000000B-C7B2-4EAE-AAEE-BB3CCED298A5}"/>
              </c:ext>
            </c:extLst>
          </c:dPt>
          <c:dPt>
            <c:idx val="6"/>
            <c:bubble3D val="0"/>
            <c:spPr>
              <a:solidFill>
                <a:srgbClr val="00B0F0"/>
              </a:solidFill>
              <a:ln w="19050">
                <a:noFill/>
              </a:ln>
              <a:effectLst/>
            </c:spPr>
            <c:extLst>
              <c:ext xmlns:c16="http://schemas.microsoft.com/office/drawing/2014/chart" uri="{C3380CC4-5D6E-409C-BE32-E72D297353CC}">
                <c16:uniqueId val="{0000000D-C7B2-4EAE-AAEE-BB3CCED298A5}"/>
              </c:ext>
            </c:extLst>
          </c:dPt>
          <c:dPt>
            <c:idx val="7"/>
            <c:bubble3D val="0"/>
            <c:spPr>
              <a:solidFill>
                <a:schemeClr val="accent2">
                  <a:lumMod val="60000"/>
                </a:schemeClr>
              </a:solidFill>
              <a:ln w="19050">
                <a:noFill/>
              </a:ln>
              <a:effectLst/>
            </c:spPr>
            <c:extLst>
              <c:ext xmlns:c16="http://schemas.microsoft.com/office/drawing/2014/chart" uri="{C3380CC4-5D6E-409C-BE32-E72D297353CC}">
                <c16:uniqueId val="{0000000F-C7B2-4EAE-AAEE-BB3CCED298A5}"/>
              </c:ext>
            </c:extLst>
          </c:dPt>
          <c:dPt>
            <c:idx val="8"/>
            <c:bubble3D val="0"/>
            <c:spPr>
              <a:solidFill>
                <a:srgbClr val="C00000"/>
              </a:solidFill>
              <a:ln w="19050">
                <a:noFill/>
              </a:ln>
              <a:effectLst/>
            </c:spPr>
            <c:extLst>
              <c:ext xmlns:c16="http://schemas.microsoft.com/office/drawing/2014/chart" uri="{C3380CC4-5D6E-409C-BE32-E72D297353CC}">
                <c16:uniqueId val="{00000011-C7B2-4EAE-AAEE-BB3CCED298A5}"/>
              </c:ext>
            </c:extLst>
          </c:dPt>
          <c:dPt>
            <c:idx val="9"/>
            <c:bubble3D val="0"/>
            <c:spPr>
              <a:solidFill>
                <a:srgbClr val="7030A0"/>
              </a:solidFill>
              <a:ln w="19050">
                <a:noFill/>
              </a:ln>
              <a:effectLst/>
            </c:spPr>
            <c:extLst>
              <c:ext xmlns:c16="http://schemas.microsoft.com/office/drawing/2014/chart" uri="{C3380CC4-5D6E-409C-BE32-E72D297353CC}">
                <c16:uniqueId val="{00000013-C7B2-4EAE-AAEE-BB3CCED298A5}"/>
              </c:ext>
            </c:extLst>
          </c:dPt>
          <c:dPt>
            <c:idx val="10"/>
            <c:bubble3D val="0"/>
            <c:spPr>
              <a:solidFill>
                <a:schemeClr val="accent6">
                  <a:lumMod val="50000"/>
                </a:schemeClr>
              </a:solidFill>
              <a:ln w="19050">
                <a:noFill/>
              </a:ln>
              <a:effectLst/>
            </c:spPr>
            <c:extLst>
              <c:ext xmlns:c16="http://schemas.microsoft.com/office/drawing/2014/chart" uri="{C3380CC4-5D6E-409C-BE32-E72D297353CC}">
                <c16:uniqueId val="{00000015-C7B2-4EAE-AAEE-BB3CCED298A5}"/>
              </c:ext>
            </c:extLst>
          </c:dPt>
          <c:dLbls>
            <c:dLbl>
              <c:idx val="5"/>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B-C7B2-4EAE-AAEE-BB3CCED298A5}"/>
                </c:ext>
              </c:extLst>
            </c:dLbl>
            <c:dLbl>
              <c:idx val="6"/>
              <c:layout>
                <c:manualLayout>
                  <c:x val="-4.2563398637109444E-2"/>
                  <c:y val="-7.6105880188865563E-2"/>
                </c:manualLayout>
              </c:layout>
              <c:tx>
                <c:rich>
                  <a:bodyPr/>
                  <a:lstStyle/>
                  <a:p>
                    <a:fld id="{B0187A23-9FFE-DD42-B541-FA56FF3B3275}" type="PERCENTAGE">
                      <a:rPr lang="en-US">
                        <a:solidFill>
                          <a:schemeClr val="tx1"/>
                        </a:solidFill>
                      </a:rPr>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C7B2-4EAE-AAEE-BB3CCED298A5}"/>
                </c:ext>
              </c:extLst>
            </c:dLbl>
            <c:dLbl>
              <c:idx val="9"/>
              <c:layout>
                <c:manualLayout>
                  <c:x val="-1.4187799545703185E-2"/>
                  <c:y val="-8.6032734126543678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3-C7B2-4EAE-AAEE-BB3CCED298A5}"/>
                </c:ext>
              </c:extLst>
            </c:dLbl>
            <c:dLbl>
              <c:idx val="10"/>
              <c:layout>
                <c:manualLayout>
                  <c:x val="2.2295113571819195E-2"/>
                  <c:y val="-8.934168543910305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5-C7B2-4EAE-AAEE-BB3CCED298A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lumMod val="9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Sheet1!$A$2:$A$12</c:f>
              <c:strCache>
                <c:ptCount val="11"/>
                <c:pt idx="0">
                  <c:v>PLATING</c:v>
                </c:pt>
                <c:pt idx="1">
                  <c:v>DIE CASTING + CHINA BUFFING + CNC</c:v>
                </c:pt>
                <c:pt idx="2">
                  <c:v>SCOTCH BUFFING</c:v>
                </c:pt>
                <c:pt idx="3">
                  <c:v>BUFFING</c:v>
                </c:pt>
                <c:pt idx="4">
                  <c:v>SPRAY+EPL-I</c:v>
                </c:pt>
                <c:pt idx="5">
                  <c:v>SPRAY+EPL-II</c:v>
                </c:pt>
                <c:pt idx="6">
                  <c:v>RUMBLE</c:v>
                </c:pt>
                <c:pt idx="7">
                  <c:v>AIR COMPRESSOR</c:v>
                </c:pt>
                <c:pt idx="8">
                  <c:v>TERRACE</c:v>
                </c:pt>
                <c:pt idx="9">
                  <c:v>TOOL ROOM</c:v>
                </c:pt>
                <c:pt idx="10">
                  <c:v>ADMIN BLOCK</c:v>
                </c:pt>
              </c:strCache>
            </c:strRef>
          </c:cat>
          <c:val>
            <c:numRef>
              <c:f>Sheet1!$B$2:$B$12</c:f>
              <c:numCache>
                <c:formatCode>General</c:formatCode>
                <c:ptCount val="11"/>
                <c:pt idx="0">
                  <c:v>87032.8</c:v>
                </c:pt>
                <c:pt idx="1">
                  <c:v>54435.5</c:v>
                </c:pt>
                <c:pt idx="2">
                  <c:v>11137.4</c:v>
                </c:pt>
                <c:pt idx="3">
                  <c:v>12914.4</c:v>
                </c:pt>
                <c:pt idx="4">
                  <c:v>16759.7</c:v>
                </c:pt>
                <c:pt idx="5">
                  <c:v>10072.4</c:v>
                </c:pt>
                <c:pt idx="6">
                  <c:v>2425.0</c:v>
                </c:pt>
                <c:pt idx="7">
                  <c:v>14920.9</c:v>
                </c:pt>
                <c:pt idx="8">
                  <c:v>8584.4</c:v>
                </c:pt>
                <c:pt idx="9">
                  <c:v>1071.0</c:v>
                </c:pt>
                <c:pt idx="10">
                  <c:v>1339.5</c:v>
                </c:pt>
              </c:numCache>
            </c:numRef>
          </c:val>
          <c:extLst>
            <c:ext xmlns:c16="http://schemas.microsoft.com/office/drawing/2014/chart" uri="{C3380CC4-5D6E-409C-BE32-E72D297353CC}">
              <c16:uniqueId val="{00000016-C7B2-4EAE-AAEE-BB3CCED298A5}"/>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b"/>
      <c:layout>
        <c:manualLayout>
          <c:xMode val="edge"/>
          <c:yMode val="edge"/>
          <c:x val="0.58326155647342692"/>
          <c:y val="4.6183580618820753E-2"/>
          <c:w val="0.40504236630153428"/>
          <c:h val="0.93396271150582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IN" dirty="0"/>
              <a:t>Average Monthly Consumption</a:t>
            </a:r>
          </a:p>
        </c:rich>
      </c:tx>
      <c:layout>
        <c:manualLayout>
          <c:xMode val="edge"/>
          <c:yMode val="edge"/>
          <c:x val="0.36252782450695176"/>
          <c:y val="1.4466368967018672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1"/>
          <c:order val="1"/>
          <c:spPr>
            <a:solidFill>
              <a:schemeClr val="accent3"/>
            </a:solidFill>
            <a:ln>
              <a:noFill/>
            </a:ln>
            <a:effectLst/>
          </c:spPr>
          <c:invertIfNegative val="0"/>
          <c:dPt>
            <c:idx val="2"/>
            <c:invertIfNegative val="0"/>
            <c:bubble3D val="0"/>
            <c:spPr>
              <a:solidFill>
                <a:srgbClr val="FF0000"/>
              </a:solidFill>
              <a:ln>
                <a:noFill/>
              </a:ln>
              <a:effectLst/>
            </c:spPr>
            <c:extLst>
              <c:ext xmlns:c16="http://schemas.microsoft.com/office/drawing/2014/chart" uri="{C3380CC4-5D6E-409C-BE32-E72D297353CC}">
                <c16:uniqueId val="{00000001-7B6F-4B56-AB72-2851FD659520}"/>
              </c:ext>
            </c:extLst>
          </c:dPt>
          <c:dPt>
            <c:idx val="9"/>
            <c:invertIfNegative val="0"/>
            <c:bubble3D val="0"/>
            <c:spPr>
              <a:solidFill>
                <a:srgbClr val="FF0000"/>
              </a:solidFill>
              <a:ln>
                <a:noFill/>
              </a:ln>
              <a:effectLst/>
            </c:spPr>
            <c:extLst>
              <c:ext xmlns:c16="http://schemas.microsoft.com/office/drawing/2014/chart" uri="{C3380CC4-5D6E-409C-BE32-E72D297353CC}">
                <c16:uniqueId val="{00000003-7B6F-4B56-AB72-2851FD659520}"/>
              </c:ext>
            </c:extLst>
          </c:dPt>
          <c:dPt>
            <c:idx val="16"/>
            <c:invertIfNegative val="0"/>
            <c:bubble3D val="0"/>
            <c:spPr>
              <a:solidFill>
                <a:srgbClr val="FF0000"/>
              </a:solidFill>
              <a:ln>
                <a:noFill/>
              </a:ln>
              <a:effectLst/>
            </c:spPr>
            <c:extLst>
              <c:ext xmlns:c16="http://schemas.microsoft.com/office/drawing/2014/chart" uri="{C3380CC4-5D6E-409C-BE32-E72D297353CC}">
                <c16:uniqueId val="{00000005-7B6F-4B56-AB72-2851FD659520}"/>
              </c:ext>
            </c:extLst>
          </c:dPt>
          <c:dPt>
            <c:idx val="23"/>
            <c:invertIfNegative val="0"/>
            <c:bubble3D val="0"/>
            <c:spPr>
              <a:solidFill>
                <a:srgbClr val="FF0000"/>
              </a:solidFill>
              <a:ln>
                <a:noFill/>
              </a:ln>
              <a:effectLst/>
            </c:spPr>
            <c:extLst>
              <c:ext xmlns:c16="http://schemas.microsoft.com/office/drawing/2014/chart" uri="{C3380CC4-5D6E-409C-BE32-E72D297353CC}">
                <c16:uniqueId val="{00000007-7B6F-4B56-AB72-2851FD659520}"/>
              </c:ext>
            </c:extLst>
          </c:dPt>
          <c:dPt>
            <c:idx val="30"/>
            <c:invertIfNegative val="0"/>
            <c:bubble3D val="0"/>
            <c:spPr>
              <a:solidFill>
                <a:srgbClr val="FF0000"/>
              </a:solidFill>
              <a:ln>
                <a:noFill/>
              </a:ln>
              <a:effectLst/>
            </c:spPr>
            <c:extLst>
              <c:ext xmlns:c16="http://schemas.microsoft.com/office/drawing/2014/chart" uri="{C3380CC4-5D6E-409C-BE32-E72D297353CC}">
                <c16:uniqueId val="{00000009-7B6F-4B56-AB72-2851FD659520}"/>
              </c:ext>
            </c:extLst>
          </c:dPt>
          <c:val>
            <c:numRef>
              <c:f>Consumption!$C$2:$C$32</c:f>
              <c:numCache>
                <c:formatCode>#,##0.00</c:formatCode>
                <c:ptCount val="31"/>
                <c:pt idx="0" formatCode="General">
                  <c:v>9270.4</c:v>
                </c:pt>
                <c:pt idx="1">
                  <c:v>9451.7999999999993</c:v>
                </c:pt>
                <c:pt idx="2">
                  <c:v>4685.8999999999996</c:v>
                </c:pt>
                <c:pt idx="3">
                  <c:v>9288.1</c:v>
                </c:pt>
                <c:pt idx="4">
                  <c:v>9609</c:v>
                </c:pt>
                <c:pt idx="5">
                  <c:v>9706.2999999999993</c:v>
                </c:pt>
                <c:pt idx="6">
                  <c:v>9364.2000000000007</c:v>
                </c:pt>
                <c:pt idx="7">
                  <c:v>8099.6</c:v>
                </c:pt>
                <c:pt idx="8" formatCode="#,##0">
                  <c:v>2.7</c:v>
                </c:pt>
                <c:pt idx="9">
                  <c:v>275.3</c:v>
                </c:pt>
                <c:pt idx="10">
                  <c:v>8164.3</c:v>
                </c:pt>
                <c:pt idx="11">
                  <c:v>8469.2000000000007</c:v>
                </c:pt>
                <c:pt idx="12">
                  <c:v>8801.9</c:v>
                </c:pt>
                <c:pt idx="13">
                  <c:v>8686.9</c:v>
                </c:pt>
                <c:pt idx="14">
                  <c:v>235.3</c:v>
                </c:pt>
                <c:pt idx="15">
                  <c:v>6779.7</c:v>
                </c:pt>
                <c:pt idx="16">
                  <c:v>872.6</c:v>
                </c:pt>
                <c:pt idx="17">
                  <c:v>8865.6</c:v>
                </c:pt>
                <c:pt idx="18">
                  <c:v>7916.7</c:v>
                </c:pt>
                <c:pt idx="19" formatCode="#,##0">
                  <c:v>9182.9</c:v>
                </c:pt>
                <c:pt idx="20">
                  <c:v>9359.1</c:v>
                </c:pt>
                <c:pt idx="21">
                  <c:v>9420.1</c:v>
                </c:pt>
                <c:pt idx="22">
                  <c:v>8816.9</c:v>
                </c:pt>
                <c:pt idx="23">
                  <c:v>390.5</c:v>
                </c:pt>
                <c:pt idx="24">
                  <c:v>9174.7999999999993</c:v>
                </c:pt>
                <c:pt idx="25">
                  <c:v>9176.2999999999993</c:v>
                </c:pt>
                <c:pt idx="26">
                  <c:v>9342.7999999999993</c:v>
                </c:pt>
                <c:pt idx="27">
                  <c:v>9224.4</c:v>
                </c:pt>
                <c:pt idx="28">
                  <c:v>9079.1</c:v>
                </c:pt>
                <c:pt idx="29">
                  <c:v>9039.5</c:v>
                </c:pt>
                <c:pt idx="30">
                  <c:v>1989.5</c:v>
                </c:pt>
              </c:numCache>
            </c:numRef>
          </c:val>
          <c:extLst>
            <c:ext xmlns:c16="http://schemas.microsoft.com/office/drawing/2014/chart" uri="{C3380CC4-5D6E-409C-BE32-E72D297353CC}">
              <c16:uniqueId val="{0000000A-7B6F-4B56-AB72-2851FD659520}"/>
            </c:ext>
          </c:extLst>
        </c:ser>
        <c:dLbls>
          <c:showLegendKey val="0"/>
          <c:showVal val="0"/>
          <c:showCatName val="0"/>
          <c:showSerName val="0"/>
          <c:showPercent val="0"/>
          <c:showBubbleSize val="0"/>
        </c:dLbls>
        <c:gapWidth val="219"/>
        <c:overlap val="-27"/>
        <c:axId val="372470656"/>
        <c:axId val="372475336"/>
        <c:extLst>
          <c:ext xmlns:c15="http://schemas.microsoft.com/office/drawing/2012/chart" uri="{02D57815-91ED-43cb-92C2-25804820EDAC}">
            <c15:filteredBarSeries>
              <c15:ser>
                <c:idx val="0"/>
                <c:order val="0"/>
                <c:spPr>
                  <a:solidFill>
                    <a:schemeClr val="accent1"/>
                  </a:solidFill>
                  <a:ln>
                    <a:noFill/>
                  </a:ln>
                  <a:effectLst/>
                </c:spPr>
                <c:invertIfNegative val="0"/>
                <c:val>
                  <c:numRef>
                    <c:extLst>
                      <c:ext uri="{02D57815-91ED-43cb-92C2-25804820EDAC}">
                        <c15:formulaRef>
                          <c15:sqref>Consumption!$A$2:$A$32</c15:sqref>
                        </c15:formulaRef>
                      </c:ext>
                    </c:extLst>
                    <c:numCache>
                      <c:formatCode>General</c:formatCod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numCache>
                  </c:numRef>
                </c:val>
                <c:extLst>
                  <c:ext xmlns:c16="http://schemas.microsoft.com/office/drawing/2014/chart" uri="{C3380CC4-5D6E-409C-BE32-E72D297353CC}">
                    <c16:uniqueId val="{0000000B-7B6F-4B56-AB72-2851FD659520}"/>
                  </c:ext>
                </c:extLst>
              </c15:ser>
            </c15:filteredBarSeries>
          </c:ext>
        </c:extLst>
      </c:barChart>
      <c:catAx>
        <c:axId val="37247065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372475336"/>
        <c:crosses val="autoZero"/>
        <c:auto val="1"/>
        <c:lblAlgn val="ctr"/>
        <c:lblOffset val="100"/>
        <c:noMultiLvlLbl val="0"/>
      </c:catAx>
      <c:valAx>
        <c:axId val="372475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3724706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endParaRPr lang="en-US"/>
          </a:p>
        </c:rich>
      </c:tx>
      <c:layout/>
      <c:overlay val="0"/>
    </c:title>
    <c:autoTitleDeleted val="0"/>
    <c:plotArea>
      <c:layout/>
      <c:lineChart>
        <c:grouping val="standard"/>
        <c:varyColors val="0"/>
        <c:ser>
          <c:idx val="0"/>
          <c:order val="0"/>
          <c:tx>
            <c:strRef>
              <c:f>Sheet1!$B$1</c:f>
              <c:strCache>
                <c:ptCount val="1"/>
                <c:pt idx="0">
                  <c:v>Daily Peak (kVA)</c:v>
                </c:pt>
              </c:strCache>
            </c:strRef>
          </c:tx>
          <c:spPr>
            <a:ln w="12700">
              <a:solidFill>
                <a:srgbClr val="388076"/>
              </a:solidFill>
            </a:ln>
          </c:spPr>
          <c:marker>
            <c:symbol val="circle"/>
            <c:size val="6"/>
            <c:spPr>
              <a:solidFill>
                <a:srgbClr val="000000"/>
              </a:solidFill>
              <a:ln w="12700">
                <a:solidFill>
                  <a:srgbClr val="388076"/>
                </a:solidFill>
              </a:ln>
            </c:spPr>
          </c:marker>
          <c:cat>
            <c:strRef>
              <c:f>Sheet1!$A$2:$A$32</c:f>
              <c:strCach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565.4</c:v>
                </c:pt>
                <c:pt idx="1">
                  <c:v>568.4</c:v>
                </c:pt>
                <c:pt idx="2">
                  <c:v>457</c:v>
                </c:pt>
                <c:pt idx="3">
                  <c:v>580.5</c:v>
                </c:pt>
                <c:pt idx="4">
                  <c:v>576.9</c:v>
                </c:pt>
                <c:pt idx="5">
                  <c:v>595.6</c:v>
                </c:pt>
                <c:pt idx="6">
                  <c:v>586.6</c:v>
                </c:pt>
                <c:pt idx="7">
                  <c:v>594</c:v>
                </c:pt>
                <c:pt idx="8">
                  <c:v>48.8</c:v>
                </c:pt>
                <c:pt idx="9">
                  <c:v>77.099999999999994</c:v>
                </c:pt>
                <c:pt idx="10">
                  <c:v>561.29999999999995</c:v>
                </c:pt>
                <c:pt idx="11">
                  <c:v>577.20000000000005</c:v>
                </c:pt>
                <c:pt idx="12">
                  <c:v>552</c:v>
                </c:pt>
                <c:pt idx="13">
                  <c:v>555.4</c:v>
                </c:pt>
                <c:pt idx="14">
                  <c:v>68</c:v>
                </c:pt>
                <c:pt idx="15">
                  <c:v>451.7</c:v>
                </c:pt>
                <c:pt idx="16">
                  <c:v>113.9</c:v>
                </c:pt>
                <c:pt idx="17">
                  <c:v>590.9</c:v>
                </c:pt>
                <c:pt idx="18">
                  <c:v>571.5</c:v>
                </c:pt>
                <c:pt idx="19">
                  <c:v>578.79999999999995</c:v>
                </c:pt>
                <c:pt idx="20">
                  <c:v>621.6</c:v>
                </c:pt>
                <c:pt idx="21">
                  <c:v>621.70000000000005</c:v>
                </c:pt>
                <c:pt idx="22">
                  <c:v>589.20000000000005</c:v>
                </c:pt>
                <c:pt idx="23">
                  <c:v>110.4</c:v>
                </c:pt>
                <c:pt idx="24">
                  <c:v>601.29999999999995</c:v>
                </c:pt>
                <c:pt idx="25">
                  <c:v>576</c:v>
                </c:pt>
                <c:pt idx="26">
                  <c:v>592.1</c:v>
                </c:pt>
                <c:pt idx="27">
                  <c:v>587</c:v>
                </c:pt>
                <c:pt idx="28">
                  <c:v>561.20000000000005</c:v>
                </c:pt>
                <c:pt idx="29">
                  <c:v>606.6</c:v>
                </c:pt>
                <c:pt idx="30">
                  <c:v>302.89999999999998</c:v>
                </c:pt>
              </c:numCache>
            </c:numRef>
          </c:val>
          <c:smooth val="0"/>
          <c:extLst>
            <c:ext xmlns:c16="http://schemas.microsoft.com/office/drawing/2014/chart" uri="{C3380CC4-5D6E-409C-BE32-E72D297353CC}">
              <c16:uniqueId val="{00000000-8536-4659-A012-A5314845774B}"/>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pPr>
                  <a:defRPr sz="1100"/>
                </a:pPr>
                <a:endParaRPr lang="en-US"/>
              </a:p>
            </c:rich>
          </c:tx>
          <c:layout/>
          <c:overlay val="0"/>
        </c:title>
        <c:numFmt formatCode="General" sourceLinked="0"/>
        <c:majorTickMark val="out"/>
        <c:minorTickMark val="none"/>
        <c:tickLblPos val="nextTo"/>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title>
          <c:tx>
            <c:rich>
              <a:bodyPr/>
              <a:lstStyle/>
              <a:p>
                <a:pPr>
                  <a:defRPr sz="1100"/>
                </a:pPr>
                <a:r>
                  <a:rPr lang="en-US" dirty="0"/>
                  <a:t>kVA</a:t>
                </a:r>
              </a:p>
            </c:rich>
          </c:tx>
          <c:layout/>
          <c:overlay val="0"/>
        </c:title>
        <c:numFmt formatCode="General" sourceLinked="1"/>
        <c:majorTickMark val="out"/>
        <c:minorTickMark val="none"/>
        <c:tickLblPos val="nextTo"/>
        <c:txPr>
          <a:bodyPr/>
          <a:lstStyle/>
          <a:p>
            <a:pPr>
              <a:defRPr sz="10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showLegendKey val="0"/>
          <c:showVal val="0"/>
          <c:showCatName val="0"/>
          <c:showSerName val="0"/>
          <c:showPercent val="1"/>
          <c:showBubbleSize val="0"/>
          <c:showLeaderLines val="0"/>
        </c:dLbls>
      </c:pie3DChart>
      <c:spPr>
        <a:noFill/>
        <a:ln>
          <a:noFill/>
        </a:ln>
        <a:effectLst/>
      </c:spPr>
    </c:plotArea>
    <c:legend>
      <c:legendPos val="b"/>
      <c:layout>
        <c:manualLayout>
          <c:xMode val="edge"/>
          <c:yMode val="edge"/>
          <c:x val="0.24617146294775802"/>
          <c:y val="0.68661589272989842"/>
          <c:w val="0.54222777412863032"/>
          <c:h val="0.11718950926481575"/>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Energy Consumption (kVAh)</c:v>
                </c:pt>
              </c:strCache>
            </c:strRef>
          </c:tx>
          <c:spPr>
            <a:solidFill>
              <a:schemeClr val="accent5">
                <a:lumMod val="20000"/>
                <a:lumOff val="80000"/>
              </a:schemeClr>
            </a:solidFill>
            <a:ln w="25400" cap="flat" cmpd="sng" algn="ctr">
              <a:solidFill>
                <a:schemeClr val="accent1"/>
              </a:solidFill>
              <a:miter lim="800000"/>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Shift A</c:v>
                </c:pt>
                <c:pt idx="1">
                  <c:v>Shift B</c:v>
                </c:pt>
              </c:strCache>
            </c:strRef>
          </c:cat>
          <c:val>
            <c:numRef>
              <c:f>Sheet1!$B$2:$B$3</c:f>
              <c:numCache>
                <c:formatCode>General</c:formatCode>
                <c:ptCount val="2"/>
                <c:pt idx="0">
                  <c:v>110971.6</c:v>
                </c:pt>
                <c:pt idx="1">
                  <c:v>93511.8</c:v>
                </c:pt>
              </c:numCache>
            </c:numRef>
          </c:val>
          <c:extLst>
            <c:ext xmlns:c16="http://schemas.microsoft.com/office/drawing/2014/chart" uri="{C3380CC4-5D6E-409C-BE32-E72D297353CC}">
              <c16:uniqueId val="{00000000-5AF9-4BFB-88DB-ABB30275DB4D}"/>
            </c:ext>
          </c:extLst>
        </c:ser>
        <c:dLbls>
          <c:dLblPos val="inEnd"/>
          <c:showLegendKey val="0"/>
          <c:showVal val="1"/>
          <c:showCatName val="0"/>
          <c:showSerName val="0"/>
          <c:showPercent val="0"/>
          <c:showBubbleSize val="0"/>
        </c:dLbls>
        <c:gapWidth val="227"/>
        <c:overlap val="-48"/>
        <c:axId val="805299696"/>
        <c:axId val="805304016"/>
      </c:barChart>
      <c:catAx>
        <c:axId val="80529969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304016"/>
        <c:crosses val="autoZero"/>
        <c:auto val="1"/>
        <c:lblAlgn val="ctr"/>
        <c:lblOffset val="100"/>
        <c:noMultiLvlLbl val="0"/>
      </c:catAx>
      <c:valAx>
        <c:axId val="805304016"/>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29969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75"/>
      <c:rotY val="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dLblPos val="inEnd"/>
          <c:showLegendKey val="0"/>
          <c:showVal val="0"/>
          <c:showCatName val="0"/>
          <c:showSerName val="0"/>
          <c:showPercent val="1"/>
          <c:showBubbleSize val="0"/>
          <c:showLeaderLines val="0"/>
        </c:dLbls>
      </c:pie3DChart>
      <c:spPr>
        <a:noFill/>
        <a:ln>
          <a:noFill/>
        </a:ln>
        <a:effectLst/>
      </c:spPr>
    </c:plotArea>
    <c:legend>
      <c:legendPos val="t"/>
      <c:layout>
        <c:manualLayout>
          <c:xMode val="edge"/>
          <c:yMode val="edge"/>
          <c:x val="0.63084381471647843"/>
          <c:y val="0.64358836851991386"/>
          <c:w val="0.25796868223823821"/>
          <c:h val="0.29615757083676503"/>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b="1">
          <a:solidFill>
            <a:sysClr val="windowText" lastClr="000000"/>
          </a:solidFill>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Shift A</c:v>
                </c:pt>
              </c:strCache>
            </c:strRef>
          </c:tx>
          <c:spPr>
            <a:solidFill>
              <a:srgbClr val="636363"/>
            </a:solidFill>
            <a:ln>
              <a:noFill/>
            </a:ln>
            <a:effectLst/>
          </c:spPr>
          <c:invertIfNegative val="0"/>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1446.0</c:v>
                </c:pt>
                <c:pt idx="1">
                  <c:v>1815.6</c:v>
                </c:pt>
                <c:pt idx="2">
                  <c:v>1694.3</c:v>
                </c:pt>
                <c:pt idx="3">
                  <c:v>201.4</c:v>
                </c:pt>
                <c:pt idx="4">
                  <c:v>1637.9</c:v>
                </c:pt>
                <c:pt idx="5">
                  <c:v>1946.9</c:v>
                </c:pt>
                <c:pt idx="6">
                  <c:v>1801.1</c:v>
                </c:pt>
                <c:pt idx="7">
                  <c:v>1795.3</c:v>
                </c:pt>
                <c:pt idx="8">
                  <c:v>1826.9</c:v>
                </c:pt>
                <c:pt idx="9">
                  <c:v>1685.9</c:v>
                </c:pt>
                <c:pt idx="10">
                  <c:v>196.4</c:v>
                </c:pt>
                <c:pt idx="11">
                  <c:v>1724.4</c:v>
                </c:pt>
                <c:pt idx="12">
                  <c:v>1731.9</c:v>
                </c:pt>
                <c:pt idx="13">
                  <c:v>1700.3</c:v>
                </c:pt>
                <c:pt idx="14">
                  <c:v>1708.9</c:v>
                </c:pt>
                <c:pt idx="15">
                  <c:v>1733.7</c:v>
                </c:pt>
                <c:pt idx="16">
                  <c:v>1747.4</c:v>
                </c:pt>
                <c:pt idx="17">
                  <c:v>323.2</c:v>
                </c:pt>
                <c:pt idx="18">
                  <c:v>0.0</c:v>
                </c:pt>
                <c:pt idx="19">
                  <c:v>1233.3</c:v>
                </c:pt>
                <c:pt idx="20">
                  <c:v>1763.1</c:v>
                </c:pt>
                <c:pt idx="21">
                  <c:v>1696.8</c:v>
                </c:pt>
                <c:pt idx="22">
                  <c:v>1676.6</c:v>
                </c:pt>
                <c:pt idx="23">
                  <c:v>1784.0</c:v>
                </c:pt>
                <c:pt idx="24">
                  <c:v>445.6</c:v>
                </c:pt>
                <c:pt idx="25">
                  <c:v>1.2</c:v>
                </c:pt>
                <c:pt idx="26">
                  <c:v>1148.1</c:v>
                </c:pt>
                <c:pt idx="27">
                  <c:v>1821.2</c:v>
                </c:pt>
                <c:pt idx="28">
                  <c:v>1799.5</c:v>
                </c:pt>
                <c:pt idx="29">
                  <c:v>1809.2</c:v>
                </c:pt>
                <c:pt idx="30">
                  <c:v>1751.9</c:v>
                </c:pt>
              </c:numCache>
            </c:numRef>
          </c:val>
          <c:extLst>
            <c:ext xmlns:c16="http://schemas.microsoft.com/office/drawing/2014/chart" uri="{C3380CC4-5D6E-409C-BE32-E72D297353CC}">
              <c16:uniqueId val="{00000000-139E-41FA-B7F1-73F0ACB5A7E0}"/>
            </c:ext>
          </c:extLst>
        </c:ser>
        <c:ser>
          <c:idx val="1"/>
          <c:order val="1"/>
          <c:tx>
            <c:strRef>
              <c:f>Sheet1!$C$1</c:f>
              <c:strCache>
                <c:ptCount val="1"/>
                <c:pt idx="0">
                  <c:v>Shift B</c:v>
                </c:pt>
              </c:strCache>
            </c:strRef>
          </c:tx>
          <c:spPr>
            <a:solidFill>
              <a:srgbClr val="ED7D31"/>
            </a:solidFill>
            <a:ln>
              <a:noFill/>
            </a:ln>
            <a:effectLst/>
          </c:spPr>
          <c:invertIfNegative val="0"/>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Sheet1!$C$2:$C$32</c:f>
              <c:numCache>
                <c:formatCode>General</c:formatCode>
                <c:ptCount val="31"/>
                <c:pt idx="0">
                  <c:v>944.4</c:v>
                </c:pt>
                <c:pt idx="1">
                  <c:v>992.5</c:v>
                </c:pt>
                <c:pt idx="2">
                  <c:v>1095.1</c:v>
                </c:pt>
                <c:pt idx="3">
                  <c:v>382.5</c:v>
                </c:pt>
                <c:pt idx="4">
                  <c:v>407.2</c:v>
                </c:pt>
                <c:pt idx="5">
                  <c:v>1049.1</c:v>
                </c:pt>
                <c:pt idx="6">
                  <c:v>1071.6</c:v>
                </c:pt>
                <c:pt idx="7">
                  <c:v>916.9</c:v>
                </c:pt>
                <c:pt idx="8">
                  <c:v>689.2</c:v>
                </c:pt>
                <c:pt idx="9">
                  <c:v>809.1</c:v>
                </c:pt>
                <c:pt idx="10">
                  <c:v>491.1</c:v>
                </c:pt>
                <c:pt idx="11">
                  <c:v>487.2</c:v>
                </c:pt>
                <c:pt idx="12">
                  <c:v>1072.3</c:v>
                </c:pt>
                <c:pt idx="13">
                  <c:v>875.6</c:v>
                </c:pt>
                <c:pt idx="14">
                  <c:v>962.6</c:v>
                </c:pt>
                <c:pt idx="15">
                  <c:v>1051.6</c:v>
                </c:pt>
                <c:pt idx="16">
                  <c:v>949.3</c:v>
                </c:pt>
                <c:pt idx="17">
                  <c:v>427.4</c:v>
                </c:pt>
                <c:pt idx="18">
                  <c:v>0.0</c:v>
                </c:pt>
                <c:pt idx="19">
                  <c:v>413.0</c:v>
                </c:pt>
                <c:pt idx="20">
                  <c:v>984.1</c:v>
                </c:pt>
                <c:pt idx="21">
                  <c:v>881.9</c:v>
                </c:pt>
                <c:pt idx="22">
                  <c:v>927.5</c:v>
                </c:pt>
                <c:pt idx="23">
                  <c:v>1039.4</c:v>
                </c:pt>
                <c:pt idx="24">
                  <c:v>533.0</c:v>
                </c:pt>
                <c:pt idx="25">
                  <c:v>184.9</c:v>
                </c:pt>
                <c:pt idx="26">
                  <c:v>294.0</c:v>
                </c:pt>
                <c:pt idx="27">
                  <c:v>806.9</c:v>
                </c:pt>
                <c:pt idx="28">
                  <c:v>883.9</c:v>
                </c:pt>
                <c:pt idx="29">
                  <c:v>875.8</c:v>
                </c:pt>
                <c:pt idx="30">
                  <c:v>927.8</c:v>
                </c:pt>
              </c:numCache>
            </c:numRef>
          </c:val>
          <c:extLst>
            <c:ext xmlns:c16="http://schemas.microsoft.com/office/drawing/2014/chart" uri="{C3380CC4-5D6E-409C-BE32-E72D297353CC}">
              <c16:uniqueId val="{00000001-139E-41FA-B7F1-73F0ACB5A7E0}"/>
            </c:ext>
          </c:extLst>
        </c:ser>
        <c:ser>
          <c:idx val="2"/>
          <c:order val="2"/>
          <c:tx>
            <c:strRef>
              <c:f>Sheet1!$D$1</c:f>
              <c:strCache>
                <c:ptCount val="1"/>
                <c:pt idx="0">
                  <c:v>Maintenance</c:v>
                </c:pt>
              </c:strCache>
            </c:strRef>
          </c:tx>
          <c:spPr>
            <a:solidFill>
              <a:srgbClr val="4472C4">
                <a:alpha val="70000"/>
              </a:srgbClr>
            </a:solidFill>
            <a:ln>
              <a:noFill/>
            </a:ln>
            <a:effectLst/>
          </c:spPr>
          <c:invertIfNegative val="0"/>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Sheet1!$D$2:$D$32</c:f>
              <c:numCache>
                <c:formatCode>General</c:formatCode>
                <c:ptCount val="31"/>
                <c:pt idx="0">
                  <c:v>247.4</c:v>
                </c:pt>
                <c:pt idx="1">
                  <c:v>228.6</c:v>
                </c:pt>
                <c:pt idx="2">
                  <c:v>340.4</c:v>
                </c:pt>
                <c:pt idx="3">
                  <c:v>105.3</c:v>
                </c:pt>
                <c:pt idx="4">
                  <c:v>112.0</c:v>
                </c:pt>
                <c:pt idx="5">
                  <c:v>250.7</c:v>
                </c:pt>
                <c:pt idx="6">
                  <c:v>316.9</c:v>
                </c:pt>
                <c:pt idx="7">
                  <c:v>254.7</c:v>
                </c:pt>
                <c:pt idx="8">
                  <c:v>211.4</c:v>
                </c:pt>
                <c:pt idx="9">
                  <c:v>211.4</c:v>
                </c:pt>
                <c:pt idx="10">
                  <c:v>148.7</c:v>
                </c:pt>
                <c:pt idx="11">
                  <c:v>140.8</c:v>
                </c:pt>
                <c:pt idx="12">
                  <c:v>287.4</c:v>
                </c:pt>
                <c:pt idx="13">
                  <c:v>263.6</c:v>
                </c:pt>
                <c:pt idx="14">
                  <c:v>232.8</c:v>
                </c:pt>
                <c:pt idx="15">
                  <c:v>280.3</c:v>
                </c:pt>
                <c:pt idx="16">
                  <c:v>305.0</c:v>
                </c:pt>
                <c:pt idx="17">
                  <c:v>96.0</c:v>
                </c:pt>
                <c:pt idx="18">
                  <c:v>14.0</c:v>
                </c:pt>
                <c:pt idx="19">
                  <c:v>0.0</c:v>
                </c:pt>
                <c:pt idx="20">
                  <c:v>225.0</c:v>
                </c:pt>
                <c:pt idx="21">
                  <c:v>244.8</c:v>
                </c:pt>
                <c:pt idx="22">
                  <c:v>203.8</c:v>
                </c:pt>
                <c:pt idx="23">
                  <c:v>316.8</c:v>
                </c:pt>
                <c:pt idx="24">
                  <c:v>97.0</c:v>
                </c:pt>
                <c:pt idx="25">
                  <c:v>31.3</c:v>
                </c:pt>
                <c:pt idx="26">
                  <c:v>0.0</c:v>
                </c:pt>
                <c:pt idx="27">
                  <c:v>252.3</c:v>
                </c:pt>
                <c:pt idx="28">
                  <c:v>270.5</c:v>
                </c:pt>
                <c:pt idx="29">
                  <c:v>258.1</c:v>
                </c:pt>
                <c:pt idx="30">
                  <c:v>282.9</c:v>
                </c:pt>
              </c:numCache>
            </c:numRef>
          </c:val>
          <c:extLst>
            <c:ext xmlns:c16="http://schemas.microsoft.com/office/drawing/2014/chart" uri="{C3380CC4-5D6E-409C-BE32-E72D297353CC}">
              <c16:uniqueId val="{00000002-139E-41FA-B7F1-73F0ACB5A7E0}"/>
            </c:ext>
          </c:extLst>
        </c:ser>
        <c:dLbls>
          <c:showLegendKey val="0"/>
          <c:showVal val="0"/>
          <c:showCatName val="0"/>
          <c:showSerName val="0"/>
          <c:showPercent val="0"/>
          <c:showBubbleSize val="0"/>
        </c:dLbls>
        <c:gapWidth val="50"/>
        <c:overlap val="100"/>
        <c:axId val="647520688"/>
        <c:axId val="647521408"/>
      </c:barChart>
      <c:catAx>
        <c:axId val="647520688"/>
        <c:scaling>
          <c:orientation val="minMax"/>
        </c:scaling>
        <c:delete val="0"/>
        <c:axPos val="b"/>
        <c:numFmt formatCode="General" sourceLinked="0"/>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7521408"/>
        <c:crosses val="autoZero"/>
        <c:auto val="1"/>
        <c:lblAlgn val="ctr"/>
        <c:lblOffset val="100"/>
        <c:noMultiLvlLbl val="0"/>
      </c:catAx>
      <c:valAx>
        <c:axId val="647521408"/>
        <c:scaling>
          <c:orientation val="minMax"/>
        </c:scaling>
        <c:delete val="0"/>
        <c:axPos val="l"/>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752068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endParaRPr lang="en-US"/>
          </a:p>
        </c:rich>
      </c:tx>
      <c:layout/>
      <c:overlay val="0"/>
    </c:title>
    <c:autoTitleDeleted val="0"/>
    <c:plotArea>
      <c:layout/>
      <c:lineChart>
        <c:grouping val="standard"/>
        <c:varyColors val="0"/>
        <c:ser>
          <c:idx val="0"/>
          <c:order val="0"/>
          <c:tx>
            <c:strRef>
              <c:f>Sheet1!$B$1</c:f>
              <c:strCache>
                <c:ptCount val="1"/>
                <c:pt idx="0">
                  <c:v>Average Hourly Consumption (kVAh)</c:v>
                </c:pt>
              </c:strCache>
            </c:strRef>
          </c:tx>
          <c:spPr>
            <a:ln w="12700">
              <a:solidFill>
                <a:schemeClr val="tx1"/>
              </a:solidFill>
            </a:ln>
          </c:spPr>
          <c:marker>
            <c:symbol val="circle"/>
            <c:size val="6"/>
            <c:spPr>
              <a:solidFill>
                <a:srgbClr val="0070C0"/>
              </a:solidFill>
              <a:ln w="12700">
                <a:solidFill>
                  <a:schemeClr val="tx1"/>
                </a:solidFill>
              </a:ln>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271.03</c:v>
                </c:pt>
                <c:pt idx="1">
                  <c:v>285.71</c:v>
                </c:pt>
                <c:pt idx="2">
                  <c:v>283.52</c:v>
                </c:pt>
                <c:pt idx="3">
                  <c:v>270.45</c:v>
                </c:pt>
                <c:pt idx="4">
                  <c:v>244.81</c:v>
                </c:pt>
                <c:pt idx="5">
                  <c:v>224.57</c:v>
                </c:pt>
                <c:pt idx="6">
                  <c:v>153.41</c:v>
                </c:pt>
                <c:pt idx="7">
                  <c:v>112.82</c:v>
                </c:pt>
                <c:pt idx="8">
                  <c:v>156.66</c:v>
                </c:pt>
                <c:pt idx="9">
                  <c:v>234.26</c:v>
                </c:pt>
                <c:pt idx="10">
                  <c:v>363.32</c:v>
                </c:pt>
                <c:pt idx="11">
                  <c:v>379.23</c:v>
                </c:pt>
                <c:pt idx="12">
                  <c:v>380.48</c:v>
                </c:pt>
                <c:pt idx="13">
                  <c:v>323.4</c:v>
                </c:pt>
                <c:pt idx="14">
                  <c:v>372.33</c:v>
                </c:pt>
                <c:pt idx="15">
                  <c:v>387.69</c:v>
                </c:pt>
                <c:pt idx="16">
                  <c:v>347.35</c:v>
                </c:pt>
                <c:pt idx="17">
                  <c:v>361.43</c:v>
                </c:pt>
                <c:pt idx="18">
                  <c:v>337.06</c:v>
                </c:pt>
                <c:pt idx="19">
                  <c:v>290.29</c:v>
                </c:pt>
                <c:pt idx="20">
                  <c:v>265.39</c:v>
                </c:pt>
                <c:pt idx="21">
                  <c:v>284.24</c:v>
                </c:pt>
                <c:pt idx="22">
                  <c:v>288.19</c:v>
                </c:pt>
                <c:pt idx="23">
                  <c:v>281.46</c:v>
                </c:pt>
              </c:numCache>
            </c:numRef>
          </c:val>
          <c:smooth val="0"/>
          <c:extLst>
            <c:ext xmlns:c16="http://schemas.microsoft.com/office/drawing/2014/chart" uri="{C3380CC4-5D6E-409C-BE32-E72D297353CC}">
              <c16:uniqueId val="{00000000-AC3A-4643-9AA4-A4A55E447AA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pPr>
                  <a:defRPr sz="1100"/>
                </a:pPr>
                <a:r>
                  <a:rPr lang="en-US"/>
                  <a:t>Hour of Day</a:t>
                </a:r>
              </a:p>
            </c:rich>
          </c:tx>
          <c:layout/>
          <c:overlay val="0"/>
        </c:title>
        <c:numFmt formatCode="General" sourceLinked="0"/>
        <c:majorTickMark val="out"/>
        <c:minorTickMark val="none"/>
        <c:tickLblPos val="nextTo"/>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title>
          <c:tx>
            <c:rich>
              <a:bodyPr/>
              <a:lstStyle/>
              <a:p>
                <a:pPr>
                  <a:defRPr sz="1100"/>
                </a:pPr>
                <a:r>
                  <a:rPr lang="en-US"/>
                  <a:t>kVAh</a:t>
                </a:r>
              </a:p>
            </c:rich>
          </c:tx>
          <c:layout/>
          <c:overlay val="0"/>
        </c:title>
        <c:numFmt formatCode="General" sourceLinked="1"/>
        <c:majorTickMark val="out"/>
        <c:minorTickMark val="none"/>
        <c:tickLblPos val="nextTo"/>
        <c:txPr>
          <a:bodyPr/>
          <a:lstStyle/>
          <a:p>
            <a:pPr>
              <a:defRPr sz="10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566820527076689E-2"/>
          <c:y val="3.7608032235763866E-2"/>
          <c:w val="0.64365068844962148"/>
          <c:h val="0.77849761483700253"/>
        </c:manualLayout>
      </c:layout>
      <c:lineChart>
        <c:grouping val="standard"/>
        <c:varyColors val="0"/>
        <c:ser>
          <c:idx val="0"/>
          <c:order val="0"/>
          <c:tx>
            <c:strRef>
              <c:f>Sheet1!$B$1</c:f>
              <c:strCache>
                <c:ptCount val="1"/>
                <c:pt idx="0">
                  <c:v>PLATING</c:v>
                </c:pt>
              </c:strCache>
            </c:strRef>
          </c:tx>
          <c:spPr>
            <a:ln w="12700" cap="rnd">
              <a:solidFill>
                <a:schemeClr val="accent1"/>
              </a:solidFill>
              <a:round/>
            </a:ln>
            <a:effectLst/>
          </c:spPr>
          <c:marker>
            <c:symbol val="circle"/>
            <c:size val="5"/>
            <c:spPr>
              <a:solidFill>
                <a:schemeClr val="accent1"/>
              </a:solidFill>
              <a:ln w="12700">
                <a:solidFill>
                  <a:schemeClr val="accent1"/>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153.9</c:v>
                </c:pt>
                <c:pt idx="1">
                  <c:v>152.99</c:v>
                </c:pt>
                <c:pt idx="2">
                  <c:v>153.71</c:v>
                </c:pt>
                <c:pt idx="3">
                  <c:v>152.13</c:v>
                </c:pt>
                <c:pt idx="4">
                  <c:v>135.51</c:v>
                </c:pt>
                <c:pt idx="5">
                  <c:v>104.7</c:v>
                </c:pt>
                <c:pt idx="6">
                  <c:v>46.73</c:v>
                </c:pt>
                <c:pt idx="7">
                  <c:v>13.35</c:v>
                </c:pt>
                <c:pt idx="8">
                  <c:v>58.21</c:v>
                </c:pt>
                <c:pt idx="9">
                  <c:v>88.2</c:v>
                </c:pt>
                <c:pt idx="10">
                  <c:v>120.22</c:v>
                </c:pt>
                <c:pt idx="11">
                  <c:v>132.02</c:v>
                </c:pt>
                <c:pt idx="12">
                  <c:v>132.62</c:v>
                </c:pt>
                <c:pt idx="13">
                  <c:v>135.67</c:v>
                </c:pt>
                <c:pt idx="14">
                  <c:v>135.23</c:v>
                </c:pt>
                <c:pt idx="15">
                  <c:v>139.02</c:v>
                </c:pt>
                <c:pt idx="16">
                  <c:v>131.86</c:v>
                </c:pt>
                <c:pt idx="17">
                  <c:v>126.8</c:v>
                </c:pt>
                <c:pt idx="18">
                  <c:v>124.54</c:v>
                </c:pt>
                <c:pt idx="19">
                  <c:v>116.79</c:v>
                </c:pt>
                <c:pt idx="20">
                  <c:v>118.2</c:v>
                </c:pt>
                <c:pt idx="21">
                  <c:v>138.06</c:v>
                </c:pt>
                <c:pt idx="22">
                  <c:v>145.44</c:v>
                </c:pt>
                <c:pt idx="23">
                  <c:v>149.16</c:v>
                </c:pt>
              </c:numCache>
            </c:numRef>
          </c:val>
          <c:smooth val="0"/>
          <c:extLst>
            <c:ext xmlns:c16="http://schemas.microsoft.com/office/drawing/2014/chart" uri="{C3380CC4-5D6E-409C-BE32-E72D297353CC}">
              <c16:uniqueId val="{00000000-E760-445D-8A3D-F1DB9E64BF7A}"/>
            </c:ext>
          </c:extLst>
        </c:ser>
        <c:ser>
          <c:idx val="1"/>
          <c:order val="1"/>
          <c:tx>
            <c:strRef>
              <c:f>Sheet1!$C$1</c:f>
              <c:strCache>
                <c:ptCount val="1"/>
                <c:pt idx="0">
                  <c:v>DIE CASTING + CHINA BUFFING + CNC</c:v>
                </c:pt>
              </c:strCache>
            </c:strRef>
          </c:tx>
          <c:spPr>
            <a:ln w="12700" cap="rnd">
              <a:solidFill>
                <a:schemeClr val="accent2"/>
              </a:solidFill>
              <a:round/>
            </a:ln>
            <a:effectLst/>
          </c:spPr>
          <c:marker>
            <c:symbol val="circle"/>
            <c:size val="5"/>
            <c:spPr>
              <a:solidFill>
                <a:schemeClr val="accent2"/>
              </a:solidFill>
              <a:ln w="12700">
                <a:solidFill>
                  <a:schemeClr val="accent2"/>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Sheet1!$C$2:$C$25</c:f>
              <c:numCache>
                <c:formatCode>General</c:formatCode>
                <c:ptCount val="24"/>
                <c:pt idx="0">
                  <c:v>65.38</c:v>
                </c:pt>
                <c:pt idx="1">
                  <c:v>65.38</c:v>
                </c:pt>
                <c:pt idx="2">
                  <c:v>64.51</c:v>
                </c:pt>
                <c:pt idx="3">
                  <c:v>63.86</c:v>
                </c:pt>
                <c:pt idx="4">
                  <c:v>61.96</c:v>
                </c:pt>
                <c:pt idx="5">
                  <c:v>60.64</c:v>
                </c:pt>
                <c:pt idx="6">
                  <c:v>58.6</c:v>
                </c:pt>
                <c:pt idx="7">
                  <c:v>59.48</c:v>
                </c:pt>
                <c:pt idx="8">
                  <c:v>59.64</c:v>
                </c:pt>
                <c:pt idx="9">
                  <c:v>64.08</c:v>
                </c:pt>
                <c:pt idx="10">
                  <c:v>83.11</c:v>
                </c:pt>
                <c:pt idx="11">
                  <c:v>85.37</c:v>
                </c:pt>
                <c:pt idx="12">
                  <c:v>84.87</c:v>
                </c:pt>
                <c:pt idx="13">
                  <c:v>71.0</c:v>
                </c:pt>
                <c:pt idx="14">
                  <c:v>81.57</c:v>
                </c:pt>
                <c:pt idx="15">
                  <c:v>85.48</c:v>
                </c:pt>
                <c:pt idx="16">
                  <c:v>80.67</c:v>
                </c:pt>
                <c:pt idx="17">
                  <c:v>82.6</c:v>
                </c:pt>
                <c:pt idx="18">
                  <c:v>80.04</c:v>
                </c:pt>
                <c:pt idx="19">
                  <c:v>74.45</c:v>
                </c:pt>
                <c:pt idx="20">
                  <c:v>68.18</c:v>
                </c:pt>
                <c:pt idx="21">
                  <c:v>67.43</c:v>
                </c:pt>
                <c:pt idx="22">
                  <c:v>65.34</c:v>
                </c:pt>
                <c:pt idx="23">
                  <c:v>64.5</c:v>
                </c:pt>
              </c:numCache>
            </c:numRef>
          </c:val>
          <c:smooth val="0"/>
          <c:extLst>
            <c:ext xmlns:c16="http://schemas.microsoft.com/office/drawing/2014/chart" uri="{C3380CC4-5D6E-409C-BE32-E72D297353CC}">
              <c16:uniqueId val="{00000001-E760-445D-8A3D-F1DB9E64BF7A}"/>
            </c:ext>
          </c:extLst>
        </c:ser>
        <c:ser>
          <c:idx val="2"/>
          <c:order val="2"/>
          <c:tx>
            <c:strRef>
              <c:f>Sheet1!$D$1</c:f>
              <c:strCache>
                <c:ptCount val="1"/>
                <c:pt idx="0">
                  <c:v>SCOTCH BUFFING</c:v>
                </c:pt>
              </c:strCache>
            </c:strRef>
          </c:tx>
          <c:spPr>
            <a:ln w="12700" cap="rnd">
              <a:solidFill>
                <a:schemeClr val="accent3"/>
              </a:solidFill>
              <a:round/>
            </a:ln>
            <a:effectLst/>
          </c:spPr>
          <c:marker>
            <c:symbol val="circle"/>
            <c:size val="5"/>
            <c:spPr>
              <a:solidFill>
                <a:schemeClr val="accent3"/>
              </a:solidFill>
              <a:ln w="12700">
                <a:solidFill>
                  <a:schemeClr val="accent3"/>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Sheet1!$D$2:$D$25</c:f>
              <c:numCache>
                <c:formatCode>General</c:formatCode>
                <c:ptCount val="24"/>
                <c:pt idx="0">
                  <c:v>11.36</c:v>
                </c:pt>
                <c:pt idx="1">
                  <c:v>11.36</c:v>
                </c:pt>
                <c:pt idx="2">
                  <c:v>11.51</c:v>
                </c:pt>
                <c:pt idx="3">
                  <c:v>11.47</c:v>
                </c:pt>
                <c:pt idx="4">
                  <c:v>11.53</c:v>
                </c:pt>
                <c:pt idx="5">
                  <c:v>11.1</c:v>
                </c:pt>
                <c:pt idx="6">
                  <c:v>10.3</c:v>
                </c:pt>
                <c:pt idx="7">
                  <c:v>9.3</c:v>
                </c:pt>
                <c:pt idx="8">
                  <c:v>9.49</c:v>
                </c:pt>
                <c:pt idx="9">
                  <c:v>11.74</c:v>
                </c:pt>
                <c:pt idx="10">
                  <c:v>23.93</c:v>
                </c:pt>
                <c:pt idx="11">
                  <c:v>23.88</c:v>
                </c:pt>
                <c:pt idx="12">
                  <c:v>23.32</c:v>
                </c:pt>
                <c:pt idx="13">
                  <c:v>15.97</c:v>
                </c:pt>
                <c:pt idx="14">
                  <c:v>22.43</c:v>
                </c:pt>
                <c:pt idx="15">
                  <c:v>23.87</c:v>
                </c:pt>
                <c:pt idx="16">
                  <c:v>19.1</c:v>
                </c:pt>
                <c:pt idx="17">
                  <c:v>22.59</c:v>
                </c:pt>
                <c:pt idx="18">
                  <c:v>18.36</c:v>
                </c:pt>
                <c:pt idx="19">
                  <c:v>10.71</c:v>
                </c:pt>
                <c:pt idx="20">
                  <c:v>10.86</c:v>
                </c:pt>
                <c:pt idx="21">
                  <c:v>11.31</c:v>
                </c:pt>
                <c:pt idx="22">
                  <c:v>11.39</c:v>
                </c:pt>
                <c:pt idx="23">
                  <c:v>11.27</c:v>
                </c:pt>
              </c:numCache>
            </c:numRef>
          </c:val>
          <c:smooth val="0"/>
          <c:extLst>
            <c:ext xmlns:c16="http://schemas.microsoft.com/office/drawing/2014/chart" uri="{C3380CC4-5D6E-409C-BE32-E72D297353CC}">
              <c16:uniqueId val="{00000002-E760-445D-8A3D-F1DB9E64BF7A}"/>
            </c:ext>
          </c:extLst>
        </c:ser>
        <c:ser>
          <c:idx val="3"/>
          <c:order val="3"/>
          <c:tx>
            <c:strRef>
              <c:f>Sheet1!$E$1</c:f>
              <c:strCache>
                <c:ptCount val="1"/>
                <c:pt idx="0">
                  <c:v>BUFFING</c:v>
                </c:pt>
              </c:strCache>
            </c:strRef>
          </c:tx>
          <c:spPr>
            <a:ln w="12700" cap="rnd">
              <a:solidFill>
                <a:schemeClr val="accent4"/>
              </a:solidFill>
              <a:round/>
            </a:ln>
            <a:effectLst/>
          </c:spPr>
          <c:marker>
            <c:symbol val="circle"/>
            <c:size val="5"/>
            <c:spPr>
              <a:solidFill>
                <a:schemeClr val="accent4"/>
              </a:solidFill>
              <a:ln w="12700">
                <a:solidFill>
                  <a:schemeClr val="accent4"/>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Sheet1!$E$2:$E$25</c:f>
              <c:numCache>
                <c:formatCode>General</c:formatCode>
                <c:ptCount val="24"/>
                <c:pt idx="0">
                  <c:v>10.9</c:v>
                </c:pt>
                <c:pt idx="1">
                  <c:v>14.56</c:v>
                </c:pt>
                <c:pt idx="2">
                  <c:v>11.27</c:v>
                </c:pt>
                <c:pt idx="3">
                  <c:v>6.2</c:v>
                </c:pt>
                <c:pt idx="4">
                  <c:v>4.81</c:v>
                </c:pt>
                <c:pt idx="5">
                  <c:v>2.67</c:v>
                </c:pt>
                <c:pt idx="6">
                  <c:v>0.54</c:v>
                </c:pt>
                <c:pt idx="7">
                  <c:v>0.23</c:v>
                </c:pt>
                <c:pt idx="8">
                  <c:v>0.25</c:v>
                </c:pt>
                <c:pt idx="9">
                  <c:v>5.91</c:v>
                </c:pt>
                <c:pt idx="10">
                  <c:v>34.15</c:v>
                </c:pt>
                <c:pt idx="11">
                  <c:v>36.24</c:v>
                </c:pt>
                <c:pt idx="12">
                  <c:v>37.01</c:v>
                </c:pt>
                <c:pt idx="13">
                  <c:v>23.95</c:v>
                </c:pt>
                <c:pt idx="14">
                  <c:v>34.99</c:v>
                </c:pt>
                <c:pt idx="15">
                  <c:v>36.91</c:v>
                </c:pt>
                <c:pt idx="16">
                  <c:v>30.26</c:v>
                </c:pt>
                <c:pt idx="17">
                  <c:v>33.42</c:v>
                </c:pt>
                <c:pt idx="18">
                  <c:v>28.92</c:v>
                </c:pt>
                <c:pt idx="19">
                  <c:v>13.07</c:v>
                </c:pt>
                <c:pt idx="20">
                  <c:v>13.58</c:v>
                </c:pt>
                <c:pt idx="21">
                  <c:v>15.12</c:v>
                </c:pt>
                <c:pt idx="22">
                  <c:v>14.99</c:v>
                </c:pt>
                <c:pt idx="23">
                  <c:v>13.06</c:v>
                </c:pt>
              </c:numCache>
            </c:numRef>
          </c:val>
          <c:smooth val="0"/>
          <c:extLst>
            <c:ext xmlns:c16="http://schemas.microsoft.com/office/drawing/2014/chart" uri="{C3380CC4-5D6E-409C-BE32-E72D297353CC}">
              <c16:uniqueId val="{00000003-E760-445D-8A3D-F1DB9E64BF7A}"/>
            </c:ext>
          </c:extLst>
        </c:ser>
        <c:ser>
          <c:idx val="4"/>
          <c:order val="4"/>
          <c:tx>
            <c:strRef>
              <c:f>Sheet1!$F$1</c:f>
              <c:strCache>
                <c:ptCount val="1"/>
                <c:pt idx="0">
                  <c:v>SPRAY+EPL-I</c:v>
                </c:pt>
              </c:strCache>
            </c:strRef>
          </c:tx>
          <c:spPr>
            <a:ln w="12700" cap="rnd">
              <a:solidFill>
                <a:schemeClr val="accent5"/>
              </a:solidFill>
              <a:round/>
            </a:ln>
            <a:effectLst/>
          </c:spPr>
          <c:marker>
            <c:symbol val="circle"/>
            <c:size val="5"/>
            <c:spPr>
              <a:solidFill>
                <a:schemeClr val="accent5"/>
              </a:solidFill>
              <a:ln w="12700">
                <a:solidFill>
                  <a:schemeClr val="accent5"/>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Sheet1!$F$2:$F$25</c:f>
              <c:numCache>
                <c:formatCode>General</c:formatCode>
                <c:ptCount val="24"/>
                <c:pt idx="0">
                  <c:v>13.28</c:v>
                </c:pt>
                <c:pt idx="1">
                  <c:v>20.9</c:v>
                </c:pt>
                <c:pt idx="2">
                  <c:v>19.77</c:v>
                </c:pt>
                <c:pt idx="3">
                  <c:v>17.46</c:v>
                </c:pt>
                <c:pt idx="4">
                  <c:v>14.33</c:v>
                </c:pt>
                <c:pt idx="5">
                  <c:v>20.41</c:v>
                </c:pt>
                <c:pt idx="6">
                  <c:v>13.49</c:v>
                </c:pt>
                <c:pt idx="7">
                  <c:v>5.04</c:v>
                </c:pt>
                <c:pt idx="8">
                  <c:v>0.9</c:v>
                </c:pt>
                <c:pt idx="9">
                  <c:v>15.58</c:v>
                </c:pt>
                <c:pt idx="10">
                  <c:v>36.62</c:v>
                </c:pt>
                <c:pt idx="11">
                  <c:v>35.17</c:v>
                </c:pt>
                <c:pt idx="12">
                  <c:v>34.23</c:v>
                </c:pt>
                <c:pt idx="13">
                  <c:v>24.83</c:v>
                </c:pt>
                <c:pt idx="14">
                  <c:v>32.4</c:v>
                </c:pt>
                <c:pt idx="15">
                  <c:v>34.18</c:v>
                </c:pt>
                <c:pt idx="16">
                  <c:v>29.24</c:v>
                </c:pt>
                <c:pt idx="17">
                  <c:v>31.92</c:v>
                </c:pt>
                <c:pt idx="18">
                  <c:v>30.37</c:v>
                </c:pt>
                <c:pt idx="19">
                  <c:v>27.63</c:v>
                </c:pt>
                <c:pt idx="20">
                  <c:v>22.12</c:v>
                </c:pt>
                <c:pt idx="21">
                  <c:v>27.61</c:v>
                </c:pt>
                <c:pt idx="22">
                  <c:v>26.22</c:v>
                </c:pt>
                <c:pt idx="23">
                  <c:v>20.53</c:v>
                </c:pt>
              </c:numCache>
            </c:numRef>
          </c:val>
          <c:smooth val="0"/>
          <c:extLst>
            <c:ext xmlns:c16="http://schemas.microsoft.com/office/drawing/2014/chart" uri="{C3380CC4-5D6E-409C-BE32-E72D297353CC}">
              <c16:uniqueId val="{00000004-E760-445D-8A3D-F1DB9E64BF7A}"/>
            </c:ext>
          </c:extLst>
        </c:ser>
        <c:ser>
          <c:idx val="5"/>
          <c:order val="5"/>
          <c:tx>
            <c:strRef>
              <c:f>Sheet1!$G$1</c:f>
              <c:strCache>
                <c:ptCount val="1"/>
                <c:pt idx="0">
                  <c:v>SPRAY+ EPL-II</c:v>
                </c:pt>
              </c:strCache>
            </c:strRef>
          </c:tx>
          <c:spPr>
            <a:ln w="12700" cap="rnd">
              <a:solidFill>
                <a:schemeClr val="accent6"/>
              </a:solidFill>
              <a:round/>
            </a:ln>
            <a:effectLst/>
          </c:spPr>
          <c:marker>
            <c:symbol val="circle"/>
            <c:size val="5"/>
            <c:spPr>
              <a:solidFill>
                <a:schemeClr val="accent6"/>
              </a:solidFill>
              <a:ln w="12700">
                <a:solidFill>
                  <a:schemeClr val="accent6"/>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Sheet1!$G$2:$G$25</c:f>
              <c:numCache>
                <c:formatCode>General</c:formatCode>
                <c:ptCount val="24"/>
                <c:pt idx="0">
                  <c:v>4.66</c:v>
                </c:pt>
                <c:pt idx="1">
                  <c:v>10.03</c:v>
                </c:pt>
                <c:pt idx="2">
                  <c:v>11.27</c:v>
                </c:pt>
                <c:pt idx="3">
                  <c:v>9.01</c:v>
                </c:pt>
                <c:pt idx="4">
                  <c:v>4.94</c:v>
                </c:pt>
                <c:pt idx="5">
                  <c:v>9.36</c:v>
                </c:pt>
                <c:pt idx="6">
                  <c:v>6.39</c:v>
                </c:pt>
                <c:pt idx="7">
                  <c:v>1.68</c:v>
                </c:pt>
                <c:pt idx="8">
                  <c:v>4.25</c:v>
                </c:pt>
                <c:pt idx="9">
                  <c:v>13.29</c:v>
                </c:pt>
                <c:pt idx="10">
                  <c:v>23.84</c:v>
                </c:pt>
                <c:pt idx="11">
                  <c:v>23.45</c:v>
                </c:pt>
                <c:pt idx="12">
                  <c:v>23.12</c:v>
                </c:pt>
                <c:pt idx="13">
                  <c:v>17.31</c:v>
                </c:pt>
                <c:pt idx="14">
                  <c:v>22.19</c:v>
                </c:pt>
                <c:pt idx="15">
                  <c:v>22.75</c:v>
                </c:pt>
                <c:pt idx="16">
                  <c:v>19.86</c:v>
                </c:pt>
                <c:pt idx="17">
                  <c:v>21.95</c:v>
                </c:pt>
                <c:pt idx="18">
                  <c:v>20.81</c:v>
                </c:pt>
                <c:pt idx="19">
                  <c:v>18.53</c:v>
                </c:pt>
                <c:pt idx="20">
                  <c:v>7.6</c:v>
                </c:pt>
                <c:pt idx="21">
                  <c:v>11.9</c:v>
                </c:pt>
                <c:pt idx="22">
                  <c:v>12.49</c:v>
                </c:pt>
                <c:pt idx="23">
                  <c:v>9.8</c:v>
                </c:pt>
              </c:numCache>
            </c:numRef>
          </c:val>
          <c:smooth val="0"/>
          <c:extLst>
            <c:ext xmlns:c16="http://schemas.microsoft.com/office/drawing/2014/chart" uri="{C3380CC4-5D6E-409C-BE32-E72D297353CC}">
              <c16:uniqueId val="{00000005-E760-445D-8A3D-F1DB9E64BF7A}"/>
            </c:ext>
          </c:extLst>
        </c:ser>
        <c:ser>
          <c:idx val="6"/>
          <c:order val="6"/>
          <c:tx>
            <c:strRef>
              <c:f>Sheet1!$H$1</c:f>
              <c:strCache>
                <c:ptCount val="1"/>
                <c:pt idx="0">
                  <c:v>RUMBLE</c:v>
                </c:pt>
              </c:strCache>
            </c:strRef>
          </c:tx>
          <c:spPr>
            <a:ln w="12700" cap="rnd">
              <a:solidFill>
                <a:schemeClr val="accent1">
                  <a:lumMod val="60000"/>
                </a:schemeClr>
              </a:solidFill>
              <a:round/>
            </a:ln>
            <a:effectLst/>
          </c:spPr>
          <c:marker>
            <c:symbol val="circle"/>
            <c:size val="5"/>
            <c:spPr>
              <a:solidFill>
                <a:schemeClr val="accent1">
                  <a:lumMod val="60000"/>
                </a:schemeClr>
              </a:solidFill>
              <a:ln w="12700">
                <a:solidFill>
                  <a:schemeClr val="accent1">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Sheet1!$H$2:$H$25</c:f>
              <c:numCache>
                <c:formatCode>General</c:formatCode>
                <c:ptCount val="24"/>
                <c:pt idx="0">
                  <c:v>0.58</c:v>
                </c:pt>
                <c:pt idx="1">
                  <c:v>0.87</c:v>
                </c:pt>
                <c:pt idx="2">
                  <c:v>0.75</c:v>
                </c:pt>
                <c:pt idx="3">
                  <c:v>0.6</c:v>
                </c:pt>
                <c:pt idx="4">
                  <c:v>0.36</c:v>
                </c:pt>
                <c:pt idx="5">
                  <c:v>0.23</c:v>
                </c:pt>
                <c:pt idx="6">
                  <c:v>0.06</c:v>
                </c:pt>
                <c:pt idx="7">
                  <c:v>0.03</c:v>
                </c:pt>
                <c:pt idx="8">
                  <c:v>0.03</c:v>
                </c:pt>
                <c:pt idx="9">
                  <c:v>3.16</c:v>
                </c:pt>
                <c:pt idx="10">
                  <c:v>8.86</c:v>
                </c:pt>
                <c:pt idx="11">
                  <c:v>9.08</c:v>
                </c:pt>
                <c:pt idx="12">
                  <c:v>8.93</c:v>
                </c:pt>
                <c:pt idx="13">
                  <c:v>4.45</c:v>
                </c:pt>
                <c:pt idx="14">
                  <c:v>7.64</c:v>
                </c:pt>
                <c:pt idx="15">
                  <c:v>8.27</c:v>
                </c:pt>
                <c:pt idx="16">
                  <c:v>5.71</c:v>
                </c:pt>
                <c:pt idx="17">
                  <c:v>7.21</c:v>
                </c:pt>
                <c:pt idx="18">
                  <c:v>5.63</c:v>
                </c:pt>
                <c:pt idx="19">
                  <c:v>3.58</c:v>
                </c:pt>
                <c:pt idx="20">
                  <c:v>0.52</c:v>
                </c:pt>
                <c:pt idx="21">
                  <c:v>0.63</c:v>
                </c:pt>
                <c:pt idx="22">
                  <c:v>0.8</c:v>
                </c:pt>
                <c:pt idx="23">
                  <c:v>0.76</c:v>
                </c:pt>
              </c:numCache>
            </c:numRef>
          </c:val>
          <c:smooth val="0"/>
          <c:extLst>
            <c:ext xmlns:c16="http://schemas.microsoft.com/office/drawing/2014/chart" uri="{C3380CC4-5D6E-409C-BE32-E72D297353CC}">
              <c16:uniqueId val="{00000006-E760-445D-8A3D-F1DB9E64BF7A}"/>
            </c:ext>
          </c:extLst>
        </c:ser>
        <c:ser>
          <c:idx val="7"/>
          <c:order val="7"/>
          <c:tx>
            <c:strRef>
              <c:f>Sheet1!$I$1</c:f>
              <c:strCache>
                <c:ptCount val="1"/>
                <c:pt idx="0">
                  <c:v>AIR COMPRESSOR</c:v>
                </c:pt>
              </c:strCache>
            </c:strRef>
          </c:tx>
          <c:spPr>
            <a:ln w="12700" cap="rnd">
              <a:solidFill>
                <a:srgbClr val="00B050"/>
              </a:solidFill>
              <a:round/>
            </a:ln>
            <a:effectLst/>
          </c:spPr>
          <c:marker>
            <c:symbol val="circle"/>
            <c:size val="5"/>
            <c:spPr>
              <a:solidFill>
                <a:srgbClr val="00B050"/>
              </a:solidFill>
              <a:ln w="12700">
                <a:solidFill>
                  <a:srgbClr val="00B050"/>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Sheet1!$I$2:$I$25</c:f>
              <c:numCache>
                <c:formatCode>General</c:formatCode>
                <c:ptCount val="24"/>
                <c:pt idx="0">
                  <c:v>20.88</c:v>
                </c:pt>
                <c:pt idx="1">
                  <c:v>22.86</c:v>
                </c:pt>
                <c:pt idx="2">
                  <c:v>23.89</c:v>
                </c:pt>
                <c:pt idx="3">
                  <c:v>23.3</c:v>
                </c:pt>
                <c:pt idx="4">
                  <c:v>22.98</c:v>
                </c:pt>
                <c:pt idx="5">
                  <c:v>22.66</c:v>
                </c:pt>
                <c:pt idx="6">
                  <c:v>20.12</c:v>
                </c:pt>
                <c:pt idx="7">
                  <c:v>18.12</c:v>
                </c:pt>
                <c:pt idx="8">
                  <c:v>17.75</c:v>
                </c:pt>
                <c:pt idx="9">
                  <c:v>19.34</c:v>
                </c:pt>
                <c:pt idx="10">
                  <c:v>23.04</c:v>
                </c:pt>
                <c:pt idx="11">
                  <c:v>22.41</c:v>
                </c:pt>
                <c:pt idx="12">
                  <c:v>21.84</c:v>
                </c:pt>
                <c:pt idx="13">
                  <c:v>16.91</c:v>
                </c:pt>
                <c:pt idx="14">
                  <c:v>21.95</c:v>
                </c:pt>
                <c:pt idx="15">
                  <c:v>22.93</c:v>
                </c:pt>
                <c:pt idx="16">
                  <c:v>17.38</c:v>
                </c:pt>
                <c:pt idx="17">
                  <c:v>21.54</c:v>
                </c:pt>
                <c:pt idx="18">
                  <c:v>18.78</c:v>
                </c:pt>
                <c:pt idx="19">
                  <c:v>17.06</c:v>
                </c:pt>
                <c:pt idx="20">
                  <c:v>18.03</c:v>
                </c:pt>
                <c:pt idx="21">
                  <c:v>21.11</c:v>
                </c:pt>
                <c:pt idx="22">
                  <c:v>22.34</c:v>
                </c:pt>
                <c:pt idx="23">
                  <c:v>22.27</c:v>
                </c:pt>
              </c:numCache>
            </c:numRef>
          </c:val>
          <c:smooth val="0"/>
          <c:extLst>
            <c:ext xmlns:c16="http://schemas.microsoft.com/office/drawing/2014/chart" uri="{C3380CC4-5D6E-409C-BE32-E72D297353CC}">
              <c16:uniqueId val="{00000007-E760-445D-8A3D-F1DB9E64BF7A}"/>
            </c:ext>
          </c:extLst>
        </c:ser>
        <c:ser>
          <c:idx val="8"/>
          <c:order val="8"/>
          <c:tx>
            <c:strRef>
              <c:f>Sheet1!$J$1</c:f>
              <c:strCache>
                <c:ptCount val="1"/>
                <c:pt idx="0">
                  <c:v>TERRACE</c:v>
                </c:pt>
              </c:strCache>
            </c:strRef>
          </c:tx>
          <c:spPr>
            <a:ln w="12700" cap="rnd">
              <a:solidFill>
                <a:srgbClr val="7030A0"/>
              </a:solidFill>
              <a:round/>
            </a:ln>
            <a:effectLst/>
          </c:spPr>
          <c:marker>
            <c:symbol val="circle"/>
            <c:size val="5"/>
            <c:spPr>
              <a:solidFill>
                <a:srgbClr val="7030A0"/>
              </a:solidFill>
              <a:ln w="12700">
                <a:solidFill>
                  <a:srgbClr val="7030A0"/>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Sheet1!$J$2:$J$25</c:f>
              <c:numCache>
                <c:formatCode>General</c:formatCode>
                <c:ptCount val="24"/>
                <c:pt idx="0">
                  <c:v>12.54</c:v>
                </c:pt>
                <c:pt idx="1">
                  <c:v>10.84</c:v>
                </c:pt>
                <c:pt idx="2">
                  <c:v>10.8</c:v>
                </c:pt>
                <c:pt idx="3">
                  <c:v>8.95</c:v>
                </c:pt>
                <c:pt idx="4">
                  <c:v>8.31</c:v>
                </c:pt>
                <c:pt idx="5">
                  <c:v>10.65</c:v>
                </c:pt>
                <c:pt idx="6">
                  <c:v>7.37</c:v>
                </c:pt>
                <c:pt idx="7">
                  <c:v>6.84</c:v>
                </c:pt>
                <c:pt idx="8">
                  <c:v>5.3</c:v>
                </c:pt>
                <c:pt idx="9">
                  <c:v>9.65</c:v>
                </c:pt>
                <c:pt idx="10">
                  <c:v>11.52</c:v>
                </c:pt>
                <c:pt idx="11">
                  <c:v>13.47</c:v>
                </c:pt>
                <c:pt idx="12">
                  <c:v>16.26</c:v>
                </c:pt>
                <c:pt idx="13">
                  <c:v>15.66</c:v>
                </c:pt>
                <c:pt idx="14">
                  <c:v>15.38</c:v>
                </c:pt>
                <c:pt idx="15">
                  <c:v>15.97</c:v>
                </c:pt>
                <c:pt idx="16">
                  <c:v>14.87</c:v>
                </c:pt>
                <c:pt idx="17">
                  <c:v>14.63</c:v>
                </c:pt>
                <c:pt idx="18">
                  <c:v>13.08</c:v>
                </c:pt>
                <c:pt idx="19">
                  <c:v>12.29</c:v>
                </c:pt>
                <c:pt idx="20">
                  <c:v>12.18</c:v>
                </c:pt>
                <c:pt idx="21">
                  <c:v>14.38</c:v>
                </c:pt>
                <c:pt idx="22">
                  <c:v>13.43</c:v>
                </c:pt>
                <c:pt idx="23">
                  <c:v>13.7</c:v>
                </c:pt>
              </c:numCache>
            </c:numRef>
          </c:val>
          <c:smooth val="0"/>
          <c:extLst>
            <c:ext xmlns:c16="http://schemas.microsoft.com/office/drawing/2014/chart" uri="{C3380CC4-5D6E-409C-BE32-E72D297353CC}">
              <c16:uniqueId val="{00000008-E760-445D-8A3D-F1DB9E64BF7A}"/>
            </c:ext>
          </c:extLst>
        </c:ser>
        <c:ser>
          <c:idx val="9"/>
          <c:order val="9"/>
          <c:tx>
            <c:strRef>
              <c:f>Sheet1!$K$1</c:f>
              <c:strCache>
                <c:ptCount val="1"/>
                <c:pt idx="0">
                  <c:v>TOOL ROOM</c:v>
                </c:pt>
              </c:strCache>
            </c:strRef>
          </c:tx>
          <c:spPr>
            <a:ln w="12700" cap="rnd">
              <a:solidFill>
                <a:schemeClr val="accent4">
                  <a:lumMod val="60000"/>
                </a:schemeClr>
              </a:solidFill>
              <a:round/>
            </a:ln>
            <a:effectLst/>
          </c:spPr>
          <c:marker>
            <c:symbol val="circle"/>
            <c:size val="5"/>
            <c:spPr>
              <a:solidFill>
                <a:schemeClr val="accent4">
                  <a:lumMod val="60000"/>
                </a:schemeClr>
              </a:solidFill>
              <a:ln w="12700">
                <a:solidFill>
                  <a:schemeClr val="accent4">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Sheet1!$K$2:$K$25</c:f>
              <c:numCache>
                <c:formatCode>General</c:formatCode>
                <c:ptCount val="24"/>
                <c:pt idx="0">
                  <c:v>0.04</c:v>
                </c:pt>
                <c:pt idx="1">
                  <c:v>0.03</c:v>
                </c:pt>
                <c:pt idx="2">
                  <c:v>0.03</c:v>
                </c:pt>
                <c:pt idx="3">
                  <c:v>0.04</c:v>
                </c:pt>
                <c:pt idx="4">
                  <c:v>0.04</c:v>
                </c:pt>
                <c:pt idx="5">
                  <c:v>0.01</c:v>
                </c:pt>
                <c:pt idx="6">
                  <c:v>0.01</c:v>
                </c:pt>
                <c:pt idx="7">
                  <c:v>0.36</c:v>
                </c:pt>
                <c:pt idx="8">
                  <c:v>0.43</c:v>
                </c:pt>
                <c:pt idx="9">
                  <c:v>1.24</c:v>
                </c:pt>
                <c:pt idx="10">
                  <c:v>3.41</c:v>
                </c:pt>
                <c:pt idx="11">
                  <c:v>3.98</c:v>
                </c:pt>
                <c:pt idx="12">
                  <c:v>3.9</c:v>
                </c:pt>
                <c:pt idx="13">
                  <c:v>2.23</c:v>
                </c:pt>
                <c:pt idx="14">
                  <c:v>3.82</c:v>
                </c:pt>
                <c:pt idx="15">
                  <c:v>3.73</c:v>
                </c:pt>
                <c:pt idx="16">
                  <c:v>3.35</c:v>
                </c:pt>
                <c:pt idx="17">
                  <c:v>3.12</c:v>
                </c:pt>
                <c:pt idx="18">
                  <c:v>1.34</c:v>
                </c:pt>
                <c:pt idx="19">
                  <c:v>1.18</c:v>
                </c:pt>
                <c:pt idx="20">
                  <c:v>0.57</c:v>
                </c:pt>
                <c:pt idx="21">
                  <c:v>0.36</c:v>
                </c:pt>
                <c:pt idx="22">
                  <c:v>0.13</c:v>
                </c:pt>
                <c:pt idx="23">
                  <c:v>0.15</c:v>
                </c:pt>
              </c:numCache>
            </c:numRef>
          </c:val>
          <c:smooth val="0"/>
          <c:extLst>
            <c:ext xmlns:c16="http://schemas.microsoft.com/office/drawing/2014/chart" uri="{C3380CC4-5D6E-409C-BE32-E72D297353CC}">
              <c16:uniqueId val="{00000009-E760-445D-8A3D-F1DB9E64BF7A}"/>
            </c:ext>
          </c:extLst>
        </c:ser>
        <c:ser>
          <c:idx val="10"/>
          <c:order val="10"/>
          <c:tx>
            <c:strRef>
              <c:f>Sheet1!$L$1</c:f>
              <c:strCache>
                <c:ptCount val="1"/>
                <c:pt idx="0">
                  <c:v>ADMIN BLOCK</c:v>
                </c:pt>
              </c:strCache>
            </c:strRef>
          </c:tx>
          <c:spPr>
            <a:ln w="12700" cap="rnd">
              <a:solidFill>
                <a:schemeClr val="accent5">
                  <a:lumMod val="60000"/>
                </a:schemeClr>
              </a:solidFill>
              <a:round/>
            </a:ln>
            <a:effectLst/>
          </c:spPr>
          <c:marker>
            <c:symbol val="circle"/>
            <c:size val="5"/>
            <c:spPr>
              <a:solidFill>
                <a:schemeClr val="accent5">
                  <a:lumMod val="60000"/>
                </a:schemeClr>
              </a:solidFill>
              <a:ln w="12700">
                <a:solidFill>
                  <a:schemeClr val="accent5">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Sheet1!$L$2:$L$25</c:f>
              <c:numCache>
                <c:formatCode>General</c:formatCode>
                <c:ptCount val="24"/>
                <c:pt idx="0">
                  <c:v>0.33</c:v>
                </c:pt>
                <c:pt idx="1">
                  <c:v>0.33</c:v>
                </c:pt>
                <c:pt idx="2">
                  <c:v>0.31</c:v>
                </c:pt>
                <c:pt idx="3">
                  <c:v>0.34</c:v>
                </c:pt>
                <c:pt idx="4">
                  <c:v>0.32</c:v>
                </c:pt>
                <c:pt idx="5">
                  <c:v>0.31</c:v>
                </c:pt>
                <c:pt idx="6">
                  <c:v>0.31</c:v>
                </c:pt>
                <c:pt idx="7">
                  <c:v>0.32</c:v>
                </c:pt>
                <c:pt idx="8">
                  <c:v>0.4</c:v>
                </c:pt>
                <c:pt idx="9">
                  <c:v>2.07</c:v>
                </c:pt>
                <c:pt idx="10">
                  <c:v>3.85</c:v>
                </c:pt>
                <c:pt idx="11">
                  <c:v>3.87</c:v>
                </c:pt>
                <c:pt idx="12">
                  <c:v>3.83</c:v>
                </c:pt>
                <c:pt idx="13">
                  <c:v>3.39</c:v>
                </c:pt>
                <c:pt idx="14">
                  <c:v>3.71</c:v>
                </c:pt>
                <c:pt idx="15">
                  <c:v>3.92</c:v>
                </c:pt>
                <c:pt idx="16">
                  <c:v>3.35</c:v>
                </c:pt>
                <c:pt idx="17">
                  <c:v>3.51</c:v>
                </c:pt>
                <c:pt idx="18">
                  <c:v>3.88</c:v>
                </c:pt>
                <c:pt idx="19">
                  <c:v>2.32</c:v>
                </c:pt>
                <c:pt idx="20">
                  <c:v>0.72</c:v>
                </c:pt>
                <c:pt idx="21">
                  <c:v>0.33</c:v>
                </c:pt>
                <c:pt idx="22">
                  <c:v>0.34</c:v>
                </c:pt>
                <c:pt idx="23">
                  <c:v>0.33</c:v>
                </c:pt>
              </c:numCache>
            </c:numRef>
          </c:val>
          <c:smooth val="0"/>
          <c:extLst>
            <c:ext xmlns:c16="http://schemas.microsoft.com/office/drawing/2014/chart" uri="{C3380CC4-5D6E-409C-BE32-E72D297353CC}">
              <c16:uniqueId val="{0000000A-E760-445D-8A3D-F1DB9E64BF7A}"/>
            </c:ext>
          </c:extLst>
        </c:ser>
        <c:dLbls>
          <c:showLegendKey val="0"/>
          <c:showVal val="0"/>
          <c:showCatName val="0"/>
          <c:showSerName val="0"/>
          <c:showPercent val="0"/>
          <c:showBubbleSize val="0"/>
        </c:dLbls>
        <c:marker val="1"/>
        <c:smooth val="0"/>
        <c:axId val="690130752"/>
        <c:axId val="690129672"/>
      </c:lineChart>
      <c:catAx>
        <c:axId val="690130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90129672"/>
        <c:crosses val="autoZero"/>
        <c:auto val="1"/>
        <c:lblAlgn val="ctr"/>
        <c:lblOffset val="100"/>
        <c:noMultiLvlLbl val="0"/>
      </c:catAx>
      <c:valAx>
        <c:axId val="69012967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90130752"/>
        <c:crosses val="autoZero"/>
        <c:crossBetween val="between"/>
      </c:valAx>
      <c:spPr>
        <a:noFill/>
        <a:ln>
          <a:noFill/>
        </a:ln>
        <a:effectLst/>
      </c:spPr>
    </c:plotArea>
    <c:legend>
      <c:legendPos val="b"/>
      <c:layout>
        <c:manualLayout>
          <c:xMode val="edge"/>
          <c:yMode val="edge"/>
          <c:x val="0.74888439679883356"/>
          <c:y val="8.2865396595867818E-3"/>
          <c:w val="0.24105462860172652"/>
          <c:h val="0.9100307584367027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Daily Energy Consumption (kVAh)</c:v>
                </c:pt>
              </c:strCache>
            </c:strRef>
          </c:tx>
          <c:dPt>
            <c:idx val="0"/>
            <c:spPr>
              <a:solidFill>
                <a:srgbClr val="4472C4"/>
              </a:solidFill>
            </c:spPr>
          </c:dPt>
          <c:dPt>
            <c:idx val="1"/>
            <c:spPr>
              <a:solidFill>
                <a:srgbClr val="4472C4"/>
              </a:solidFill>
            </c:spPr>
          </c:dPt>
          <c:dPt>
            <c:idx val="2"/>
            <c:spPr>
              <a:solidFill>
                <a:srgbClr val="4472C4"/>
              </a:solidFill>
            </c:spPr>
          </c:dPt>
          <c:dPt>
            <c:idx val="3"/>
            <c:spPr>
              <a:solidFill>
                <a:srgbClr val="C00000"/>
              </a:solidFill>
            </c:spPr>
          </c:dPt>
          <c:dPt>
            <c:idx val="4"/>
            <c:spPr>
              <a:solidFill>
                <a:srgbClr val="4472C4"/>
              </a:solidFill>
            </c:spPr>
          </c:dPt>
          <c:dPt>
            <c:idx val="5"/>
            <c:spPr>
              <a:solidFill>
                <a:srgbClr val="4472C4"/>
              </a:solidFill>
            </c:spPr>
          </c:dPt>
          <c:dPt>
            <c:idx val="6"/>
            <c:spPr>
              <a:solidFill>
                <a:srgbClr val="4472C4"/>
              </a:solidFill>
            </c:spPr>
          </c:dPt>
          <c:dPt>
            <c:idx val="7"/>
            <c:spPr>
              <a:solidFill>
                <a:srgbClr val="4472C4"/>
              </a:solidFill>
            </c:spPr>
          </c:dPt>
          <c:dPt>
            <c:idx val="8"/>
            <c:spPr>
              <a:solidFill>
                <a:srgbClr val="4472C4"/>
              </a:solidFill>
            </c:spPr>
          </c:dPt>
          <c:dPt>
            <c:idx val="9"/>
            <c:spPr>
              <a:solidFill>
                <a:srgbClr val="4472C4"/>
              </a:solidFill>
            </c:spPr>
          </c:dPt>
          <c:dPt>
            <c:idx val="10"/>
            <c:spPr>
              <a:solidFill>
                <a:srgbClr val="C00000"/>
              </a:solidFill>
            </c:spPr>
          </c:dPt>
          <c:dPt>
            <c:idx val="11"/>
            <c:spPr>
              <a:solidFill>
                <a:srgbClr val="4472C4"/>
              </a:solidFill>
            </c:spPr>
          </c:dPt>
          <c:dPt>
            <c:idx val="12"/>
            <c:spPr>
              <a:solidFill>
                <a:srgbClr val="4472C4"/>
              </a:solidFill>
            </c:spPr>
          </c:dPt>
          <c:dPt>
            <c:idx val="13"/>
            <c:spPr>
              <a:solidFill>
                <a:srgbClr val="4472C4"/>
              </a:solidFill>
            </c:spPr>
          </c:dPt>
          <c:dPt>
            <c:idx val="14"/>
            <c:spPr>
              <a:solidFill>
                <a:srgbClr val="4472C4"/>
              </a:solidFill>
            </c:spPr>
          </c:dPt>
          <c:dPt>
            <c:idx val="15"/>
            <c:spPr>
              <a:solidFill>
                <a:srgbClr val="4472C4"/>
              </a:solidFill>
            </c:spPr>
          </c:dPt>
          <c:dPt>
            <c:idx val="16"/>
            <c:spPr>
              <a:solidFill>
                <a:srgbClr val="4472C4"/>
              </a:solidFill>
            </c:spPr>
          </c:dPt>
          <c:dPt>
            <c:idx val="17"/>
            <c:spPr>
              <a:solidFill>
                <a:srgbClr val="C00000"/>
              </a:solidFill>
            </c:spPr>
          </c:dPt>
          <c:dPt>
            <c:idx val="18"/>
            <c:spPr>
              <a:solidFill>
                <a:srgbClr val="4472C4"/>
              </a:solidFill>
            </c:spPr>
          </c:dPt>
          <c:dPt>
            <c:idx val="19"/>
            <c:spPr>
              <a:solidFill>
                <a:srgbClr val="4472C4"/>
              </a:solidFill>
            </c:spPr>
          </c:dPt>
          <c:dPt>
            <c:idx val="20"/>
            <c:spPr>
              <a:solidFill>
                <a:srgbClr val="4472C4"/>
              </a:solidFill>
            </c:spPr>
          </c:dPt>
          <c:dPt>
            <c:idx val="21"/>
            <c:spPr>
              <a:solidFill>
                <a:srgbClr val="4472C4"/>
              </a:solidFill>
            </c:spPr>
          </c:dPt>
          <c:dPt>
            <c:idx val="22"/>
            <c:spPr>
              <a:solidFill>
                <a:srgbClr val="4472C4"/>
              </a:solidFill>
            </c:spPr>
          </c:dPt>
          <c:dPt>
            <c:idx val="23"/>
            <c:spPr>
              <a:solidFill>
                <a:srgbClr val="4472C4"/>
              </a:solidFill>
            </c:spPr>
          </c:dPt>
          <c:dPt>
            <c:idx val="24"/>
            <c:spPr>
              <a:solidFill>
                <a:srgbClr val="C00000"/>
              </a:solidFill>
            </c:spPr>
          </c:dPt>
          <c:dPt>
            <c:idx val="25"/>
            <c:spPr>
              <a:solidFill>
                <a:srgbClr val="4472C4"/>
              </a:solidFill>
            </c:spPr>
          </c:dPt>
          <c:dPt>
            <c:idx val="26"/>
            <c:spPr>
              <a:solidFill>
                <a:srgbClr val="4472C4"/>
              </a:solidFill>
            </c:spPr>
          </c:dPt>
          <c:dPt>
            <c:idx val="27"/>
            <c:spPr>
              <a:solidFill>
                <a:srgbClr val="4472C4"/>
              </a:solidFill>
            </c:spPr>
          </c:dPt>
          <c:dPt>
            <c:idx val="28"/>
            <c:spPr>
              <a:solidFill>
                <a:srgbClr val="4472C4"/>
              </a:solidFill>
            </c:spPr>
          </c:dPt>
          <c:dPt>
            <c:idx val="29"/>
            <c:spPr>
              <a:solidFill>
                <a:srgbClr val="4472C4"/>
              </a:solidFill>
            </c:spPr>
          </c:dPt>
          <c:dPt>
            <c:idx val="30"/>
            <c:spPr>
              <a:solidFill>
                <a:srgbClr val="4472C4"/>
              </a:solidFill>
            </c:spPr>
          </c:dPt>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8034.2</c:v>
                </c:pt>
                <c:pt idx="1">
                  <c:v>8641.5</c:v>
                </c:pt>
                <c:pt idx="2">
                  <c:v>9116.5</c:v>
                </c:pt>
                <c:pt idx="3">
                  <c:v>2447.1</c:v>
                </c:pt>
                <c:pt idx="4">
                  <c:v>4851.6</c:v>
                </c:pt>
                <c:pt idx="5">
                  <c:v>8535.3</c:v>
                </c:pt>
                <c:pt idx="6">
                  <c:v>9014.8</c:v>
                </c:pt>
                <c:pt idx="7">
                  <c:v>8427.7</c:v>
                </c:pt>
                <c:pt idx="8">
                  <c:v>8212.2</c:v>
                </c:pt>
                <c:pt idx="9">
                  <c:v>7345.2</c:v>
                </c:pt>
                <c:pt idx="10">
                  <c:v>2097.7</c:v>
                </c:pt>
                <c:pt idx="11">
                  <c:v>5748.7</c:v>
                </c:pt>
                <c:pt idx="12">
                  <c:v>7969.8</c:v>
                </c:pt>
                <c:pt idx="13">
                  <c:v>7597.6</c:v>
                </c:pt>
                <c:pt idx="14">
                  <c:v>7438.0</c:v>
                </c:pt>
                <c:pt idx="15">
                  <c:v>8267.7</c:v>
                </c:pt>
                <c:pt idx="16">
                  <c:v>8416.9</c:v>
                </c:pt>
                <c:pt idx="17">
                  <c:v>3562.4</c:v>
                </c:pt>
                <c:pt idx="18">
                  <c:v>97.3</c:v>
                </c:pt>
                <c:pt idx="19">
                  <c:v>4555.8</c:v>
                </c:pt>
                <c:pt idx="20">
                  <c:v>8720.1</c:v>
                </c:pt>
                <c:pt idx="21">
                  <c:v>8478.5</c:v>
                </c:pt>
                <c:pt idx="22">
                  <c:v>8155.2</c:v>
                </c:pt>
                <c:pt idx="23">
                  <c:v>8254.9</c:v>
                </c:pt>
                <c:pt idx="24">
                  <c:v>5100.8</c:v>
                </c:pt>
                <c:pt idx="25">
                  <c:v>1015.9</c:v>
                </c:pt>
                <c:pt idx="26">
                  <c:v>4431.5</c:v>
                </c:pt>
                <c:pt idx="27">
                  <c:v>8066.2</c:v>
                </c:pt>
                <c:pt idx="28">
                  <c:v>8457.1</c:v>
                </c:pt>
                <c:pt idx="29">
                  <c:v>8994.7</c:v>
                </c:pt>
                <c:pt idx="30">
                  <c:v>8965.2</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l"/>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Daily Highest kVA</c:v>
                </c:pt>
              </c:strCache>
            </c:strRef>
          </c:tx>
          <c:spPr>
            <a:ln w="12700">
              <a:solidFill>
                <a:srgbClr val="4472C4"/>
              </a:solidFill>
            </a:ln>
          </c:spPr>
          <c:marker>
            <c:size val="7"/>
            <c:spPr>
              <a:solidFill>
                <a:srgbClr val="000000"/>
              </a:solidFill>
              <a:ln w="12700">
                <a:solidFill>
                  <a:srgbClr val="4472C4"/>
                </a:solidFill>
              </a:ln>
            </c:spPr>
          </c:marker>
          <c:cat>
            <c:strRef>
              <c:f>Sheet1!$A$2:$A$32</c:f>
              <c:strCache>
                <c:ptCount val="31"/>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533.4</c:v>
                </c:pt>
                <c:pt idx="1">
                  <c:v>558.3</c:v>
                </c:pt>
                <c:pt idx="2">
                  <c:v>546.3</c:v>
                </c:pt>
                <c:pt idx="3">
                  <c:v>407.6</c:v>
                </c:pt>
                <c:pt idx="4">
                  <c:v>462.5</c:v>
                </c:pt>
                <c:pt idx="5">
                  <c:v>581.4</c:v>
                </c:pt>
                <c:pt idx="6">
                  <c:v>551.2</c:v>
                </c:pt>
                <c:pt idx="7">
                  <c:v>532.8</c:v>
                </c:pt>
                <c:pt idx="8">
                  <c:v>541.0</c:v>
                </c:pt>
                <c:pt idx="9">
                  <c:v>506.2</c:v>
                </c:pt>
                <c:pt idx="10">
                  <c:v>318.5</c:v>
                </c:pt>
                <c:pt idx="11">
                  <c:v>506.2</c:v>
                </c:pt>
                <c:pt idx="12">
                  <c:v>513.2</c:v>
                </c:pt>
                <c:pt idx="13">
                  <c:v>526.9</c:v>
                </c:pt>
                <c:pt idx="14">
                  <c:v>476.0</c:v>
                </c:pt>
                <c:pt idx="15">
                  <c:v>515.3</c:v>
                </c:pt>
                <c:pt idx="16">
                  <c:v>525.6</c:v>
                </c:pt>
                <c:pt idx="17">
                  <c:v>379.9</c:v>
                </c:pt>
                <c:pt idx="18">
                  <c:v>99.9</c:v>
                </c:pt>
                <c:pt idx="19">
                  <c:v>543.0</c:v>
                </c:pt>
                <c:pt idx="20">
                  <c:v>552.7</c:v>
                </c:pt>
                <c:pt idx="21">
                  <c:v>525.1</c:v>
                </c:pt>
                <c:pt idx="22">
                  <c:v>530.9</c:v>
                </c:pt>
                <c:pt idx="23">
                  <c:v>498.9</c:v>
                </c:pt>
                <c:pt idx="24">
                  <c:v>405.4</c:v>
                </c:pt>
                <c:pt idx="25">
                  <c:v>227.1</c:v>
                </c:pt>
                <c:pt idx="26">
                  <c:v>511.5</c:v>
                </c:pt>
                <c:pt idx="27">
                  <c:v>517.9</c:v>
                </c:pt>
                <c:pt idx="28">
                  <c:v>538.2</c:v>
                </c:pt>
                <c:pt idx="29">
                  <c:v>545.3</c:v>
                </c:pt>
                <c:pt idx="30">
                  <c:v>541.9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800"/>
            </a:pPr>
          </a:p>
        </c:txPr>
        <c:crossAx val="2140495176"/>
        <c:crosses val="autoZero"/>
        <c:auto val="1"/>
        <c:lblAlgn val="ctr"/>
        <c:lblOffset val="100"/>
        <c:noMultiLvlLbl val="0"/>
      </c:catAx>
      <c:valAx>
        <c:axId val="2140495176"/>
        <c:scaling/>
        <c:delete val="0"/>
        <c:axPos val="l"/>
        <c:majorTickMark val="out"/>
        <c:minorTickMark val="none"/>
        <c:tickLblPos val="nextTo"/>
        <c:txPr>
          <a:bodyPr/>
          <a:lstStyle/>
          <a:p>
            <a:pPr>
              <a:defRPr sz="8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Shift Cost</c:v>
                </c:pt>
              </c:strCache>
            </c:strRef>
          </c:tx>
          <c:dPt>
            <c:idx val="0"/>
            <c:spPr>
              <a:solidFill>
                <a:srgbClr val="FFC000"/>
              </a:solidFill>
            </c:spPr>
          </c:dPt>
          <c:dPt>
            <c:idx val="1"/>
            <c:spPr>
              <a:solidFill>
                <a:srgbClr val="00B0AA"/>
              </a:solidFill>
            </c:spPr>
          </c:dPt>
          <c:cat>
            <c:strRef>
              <c:f>Sheet1!$A$2:$A$3</c:f>
              <c:strCache>
                <c:ptCount val="2"/>
                <c:pt idx="0">
                  <c:v>Shift A Cost</c:v>
                </c:pt>
                <c:pt idx="1">
                  <c:v>Shift B Cost</c:v>
                </c:pt>
              </c:strCache>
            </c:strRef>
          </c:cat>
          <c:val>
            <c:numRef>
              <c:f>Sheet1!$B$2:$B$3</c:f>
              <c:numCache>
                <c:formatCode>General</c:formatCode>
                <c:ptCount val="2"/>
                <c:pt idx="0">
                  <c:v>790187.47</c:v>
                </c:pt>
                <c:pt idx="1">
                  <c:v>706021.73</c:v>
                </c:pt>
              </c:numCache>
            </c:numRef>
          </c:val>
        </c:ser>
        <c:dLbls>
          <c:numFmt formatCode="₹#,##0" sourceLinked="0"/>
          <c:txPr>
            <a:bodyPr/>
            <a:lstStyle/>
            <a:p>
              <a:pPr>
                <a:defRPr sz="900"/>
              </a:pPr>
            </a:p>
          </c:txPr>
          <c:showLegendKey val="0"/>
          <c:showVal val="1"/>
          <c:showCatName val="0"/>
          <c:showSerName val="0"/>
          <c:showPercent val="0"/>
          <c:showBubbleSize val="0"/>
          <c:showLeaderLines val="1"/>
        </c:dLbls>
      </c:pieChart>
    </c:plotArea>
    <c:dispBlanksAs val="gap"/>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2">
  <cs:axisTitle>
    <cs:lnRef idx="0"/>
    <cs:fillRef idx="0"/>
    <cs:effectRef idx="0"/>
    <cs:fontRef idx="minor">
      <a:schemeClr val="tx1">
        <a:lumMod val="65000"/>
        <a:lumOff val="35000"/>
      </a:schemeClr>
    </cs:fontRef>
    <cs:defRPr sz="1197"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
  <cs:dataPoint3D>
    <cs:lnRef idx="0"/>
    <cs:fillRef idx="0">
      <cs:styleClr val="auto"/>
    </cs:fillRef>
    <cs:effectRef idx="0"/>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e0adddb9d8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e0adddb9d8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549F96C-7D34-E056-3D40-49104E06573B}"/>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33075793-AB68-8C0F-CCC7-566B8DAA67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3AC064F4-775F-1E62-3ED3-4E4B08B015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346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5376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83CD2D91-BFC0-EC86-134A-4984BD463612}"/>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B01F8780-A9E2-EAC7-5485-0517B4C720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886CC912-8A75-3878-3F86-5CC6DCB5F3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6465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2EE9087F-1A4A-C69C-6837-2833472F86CD}"/>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B297B303-E604-DB34-8E39-B3880D06FC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D67F2F7B-E7E8-000D-10BE-1F48F7AEF6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1615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DB17E059-F1A4-0160-2F31-2307A2FBB587}"/>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378FFF0E-269C-B605-5D68-E268F86C0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D94B07CB-6E24-0BB2-FC8B-44A82A9D69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823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5D1DC3B-CB0F-A997-542B-4F5594704029}"/>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F014FB58-8F5B-0AC7-4A3A-36EA16CD32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A689CC16-45D8-43B6-4396-32B341E64D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8981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283600" y="4586613"/>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7" r:id="rId7"/>
    <p:sldLayoutId id="2147483658"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microsoft.com/office/2007/relationships/hdphoto" Target="../media/hdphoto1.wdp"/><Relationship Id="rId5" Type="http://schemas.openxmlformats.org/officeDocument/2006/relationships/image" Target="../media/image2.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 Id="rId7" Type="http://schemas.openxmlformats.org/officeDocument/2006/relationships/chart" Target="../charts/char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chart" Target="../charts/char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chart" Target="../charts/chart7.xml"/><Relationship Id="rId5" Type="http://schemas.openxmlformats.org/officeDocument/2006/relationships/chart" Target="../charts/char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chart" Target="../charts/chart8.xml"/><Relationship Id="rId5" Type="http://schemas.openxmlformats.org/officeDocument/2006/relationships/chart" Target="../charts/char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9.xml"/><Relationship Id="rId4" Type="http://schemas.openxmlformats.org/officeDocument/2006/relationships/image" Target="../media/image3.png"/><Relationship Id="rId5" Type="http://schemas.openxmlformats.org/officeDocument/2006/relationships/chart" Target="../charts/chart10.xml"/><Relationship Id="rId6" Type="http://schemas.openxmlformats.org/officeDocument/2006/relationships/chart" Target="../charts/chart11.xml"/><Relationship Id="rId7" Type="http://schemas.openxmlformats.org/officeDocument/2006/relationships/chart" Target="../charts/chart12.xml"/><Relationship Id="rId8" Type="http://schemas.openxmlformats.org/officeDocument/2006/relationships/chart" Target="../charts/char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5.png"/><Relationship Id="rId5" Type="http://schemas.openxmlformats.org/officeDocument/2006/relationships/image" Target="../media/image7.svg"/><Relationship Id="rId6" Type="http://schemas.openxmlformats.org/officeDocument/2006/relationships/image" Target="../media/image6.png"/><Relationship Id="rId7" Type="http://schemas.openxmlformats.org/officeDocument/2006/relationships/image" Target="../media/image9.sv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Shape 62"/>
        <p:cNvGrpSpPr/>
        <p:nvPr/>
      </p:nvGrpSpPr>
      <p:grpSpPr>
        <a:xfrm>
          <a:off x="0" y="0"/>
          <a:ext cx="0" cy="0"/>
          <a:chOff x="0" y="0"/>
          <a:chExt cx="0" cy="0"/>
        </a:xfrm>
      </p:grpSpPr>
      <p:pic>
        <p:nvPicPr>
          <p:cNvPr id="1028" name="Picture 4" descr="Energy saving in our industries: Benefits and key points of a currently  relevant topic">
            <a:extLst>
              <a:ext uri="{FF2B5EF4-FFF2-40B4-BE49-F238E27FC236}">
                <a16:creationId xmlns:a16="http://schemas.microsoft.com/office/drawing/2014/main" id="{2ECD5CAA-DB63-2950-5BC3-9F8F1A51726A}"/>
              </a:ext>
            </a:extLst>
          </p:cNvPr>
          <p:cNvPicPr>
            <a:picLocks noChangeAspect="1" noChangeArrowheads="1"/>
          </p:cNvPicPr>
          <p:nvPr/>
        </p:nvPicPr>
        <p:blipFill rotWithShape="1">
          <a:blip r:embed="rId3">
            <a:alphaModFix amt="70000"/>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t="-18" b="22408"/>
          <a:stretch>
            <a:fillRect/>
          </a:stretch>
        </p:blipFill>
        <p:spPr bwMode="auto">
          <a:xfrm>
            <a:off x="0" y="1435101"/>
            <a:ext cx="9144000" cy="3708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B46D54B-B6C9-4EA0-E75C-C6C8850BCC67}"/>
              </a:ext>
            </a:extLst>
          </p:cNvPr>
          <p:cNvSpPr/>
          <p:nvPr/>
        </p:nvSpPr>
        <p:spPr>
          <a:xfrm>
            <a:off x="0" y="0"/>
            <a:ext cx="9144000" cy="14478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Google Shape;67;p14"/>
          <p:cNvSpPr txBox="1">
            <a:spLocks noGrp="1"/>
          </p:cNvSpPr>
          <p:nvPr>
            <p:ph type="ctrTitle"/>
          </p:nvPr>
        </p:nvSpPr>
        <p:spPr>
          <a:xfrm>
            <a:off x="812150" y="2068067"/>
            <a:ext cx="2473310" cy="254001"/>
          </a:xfrm>
          <a:prstGeom prst="rect">
            <a:avLst/>
          </a:prstGeom>
        </p:spPr>
        <p:txBody>
          <a:bodyPr spcFirstLastPara="1" wrap="square" lIns="0" tIns="0" rIns="0" bIns="0" anchor="b" anchorCtr="0">
            <a:noAutofit/>
          </a:bodyPr>
          <a:lstStyle/>
          <a:p>
            <a:pPr algn="l"/>
            <a:r>
              <a:rPr sz="2000">
                <a:latin typeface="Calibri (Body)"/>
              </a:rPr>
              <a:t>January 2026</a:t>
            </a:r>
          </a:p>
        </p:txBody>
      </p:sp>
      <p:sp>
        <p:nvSpPr>
          <p:cNvPr id="5" name="TextBox 4">
            <a:extLst>
              <a:ext uri="{FF2B5EF4-FFF2-40B4-BE49-F238E27FC236}">
                <a16:creationId xmlns:a16="http://schemas.microsoft.com/office/drawing/2014/main" id="{CCF570F7-832F-E22B-D8A3-272B517E36FD}"/>
              </a:ext>
            </a:extLst>
          </p:cNvPr>
          <p:cNvSpPr txBox="1"/>
          <p:nvPr/>
        </p:nvSpPr>
        <p:spPr>
          <a:xfrm>
            <a:off x="685150" y="990849"/>
            <a:ext cx="4585350" cy="1077218"/>
          </a:xfrm>
          <a:prstGeom prst="rect">
            <a:avLst/>
          </a:prstGeom>
          <a:noFill/>
        </p:spPr>
        <p:txBody>
          <a:bodyPr wrap="square" rtlCol="0">
            <a:spAutoFit/>
          </a:bodyPr>
          <a:lstStyle/>
          <a:p>
            <a:r>
              <a:rPr lang="en-US" sz="2800" dirty="0"/>
              <a:t>MONTHYLY</a:t>
            </a:r>
            <a:r>
              <a:rPr lang="en-US" dirty="0"/>
              <a:t> </a:t>
            </a:r>
          </a:p>
          <a:p>
            <a:r>
              <a:rPr lang="en-US" sz="3600" b="1" dirty="0"/>
              <a:t>ENERGY UPDATE</a:t>
            </a:r>
          </a:p>
        </p:txBody>
      </p:sp>
      <p:pic>
        <p:nvPicPr>
          <p:cNvPr id="1026" name="Picture 2" descr="Metal Belt Buckle Manufacturer in India | Belt Buckle Manufacturer for  Global Brands">
            <a:extLst>
              <a:ext uri="{FF2B5EF4-FFF2-40B4-BE49-F238E27FC236}">
                <a16:creationId xmlns:a16="http://schemas.microsoft.com/office/drawing/2014/main" id="{171E0A51-1FD0-488B-8936-29377D74B6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7150" y="434515"/>
            <a:ext cx="2171700" cy="599857"/>
          </a:xfrm>
          <a:prstGeom prst="rect">
            <a:avLst/>
          </a:prstGeom>
          <a:noFill/>
          <a:extLst>
            <a:ext uri="{909E8E84-426E-40DD-AFC4-6F175D3DCCD1}">
              <a14:hiddenFill xmlns:a14="http://schemas.microsoft.com/office/drawing/2010/main">
                <a:solidFill>
                  <a:srgbClr val="FFFFFF"/>
                </a:solidFill>
              </a14:hiddenFill>
            </a:ext>
          </a:extLst>
        </p:spPr>
      </p:pic>
      <p:pic>
        <p:nvPicPr>
          <p:cNvPr id="7" name="Google Shape;304;p1">
            <a:extLst>
              <a:ext uri="{FF2B5EF4-FFF2-40B4-BE49-F238E27FC236}">
                <a16:creationId xmlns:a16="http://schemas.microsoft.com/office/drawing/2014/main" id="{9056580B-56BA-DFEC-FF44-25412051743C}"/>
              </a:ext>
            </a:extLst>
          </p:cNvPr>
          <p:cNvPicPr preferRelativeResize="0"/>
          <p:nvPr/>
        </p:nvPicPr>
        <p:blipFill rotWithShape="1">
          <a:blip r:embed="rId6">
            <a:clrChange>
              <a:clrFrom>
                <a:srgbClr val="FFFFFF"/>
              </a:clrFrom>
              <a:clrTo>
                <a:srgbClr val="FFFFFF">
                  <a:alpha val="0"/>
                </a:srgbClr>
              </a:clrTo>
            </a:clrChange>
            <a:alphaModFix/>
          </a:blip>
          <a:srcRect b="44382"/>
          <a:stretch>
            <a:fillRect/>
          </a:stretch>
        </p:blipFill>
        <p:spPr>
          <a:xfrm>
            <a:off x="477031" y="533937"/>
            <a:ext cx="1008544" cy="4010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2F7846F3-C04B-2E32-B9A1-44CECA39AB38}"/>
              </a:ext>
            </a:extLst>
          </p:cNvPr>
          <p:cNvSpPr/>
          <p:nvPr/>
        </p:nvSpPr>
        <p:spPr>
          <a:xfrm>
            <a:off x="3486400" y="2693095"/>
            <a:ext cx="3084729" cy="2201780"/>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5" name="Rectangle: Rounded Corners 4">
            <a:extLst>
              <a:ext uri="{FF2B5EF4-FFF2-40B4-BE49-F238E27FC236}">
                <a16:creationId xmlns:a16="http://schemas.microsoft.com/office/drawing/2014/main" id="{905BA6E7-B393-7BA1-21B7-9992CFBD814D}"/>
              </a:ext>
            </a:extLst>
          </p:cNvPr>
          <p:cNvSpPr/>
          <p:nvPr/>
        </p:nvSpPr>
        <p:spPr>
          <a:xfrm>
            <a:off x="223620" y="673004"/>
            <a:ext cx="6347509" cy="1894832"/>
          </a:xfrm>
          <a:prstGeom prst="rect">
            <a:avLst/>
          </a:prstGeom>
          <a:solidFill>
            <a:schemeClr val="bg1"/>
          </a:solidFill>
          <a:ln w="9525">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72" name="Google Shape;72;p15"/>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4" name="Google Shape;74;p15"/>
          <p:cNvSpPr txBox="1"/>
          <p:nvPr/>
        </p:nvSpPr>
        <p:spPr>
          <a:xfrm>
            <a:off x="6771687" y="1437467"/>
            <a:ext cx="2090699" cy="2677626"/>
          </a:xfrm>
          <a:prstGeom prst="rect">
            <a:avLst/>
          </a:prstGeom>
          <a:noFill/>
          <a:ln>
            <a:noFill/>
          </a:ln>
        </p:spPr>
        <p:txBody>
          <a:bodyPr spcFirstLastPara="1" wrap="square" lIns="270000" tIns="91425" rIns="91425" bIns="91425" anchor="t" anchorCtr="0">
            <a:spAutoFit/>
          </a:bodyPr>
          <a:lstStyle/>
          <a:p>
            <a:pPr marL="89999" lvl="0" indent="-317499" algn="l" rtl="0">
              <a:spcBef>
                <a:spcPts val="0"/>
              </a:spcBef>
              <a:spcAft>
                <a:spcPts val="0"/>
              </a:spcAft>
              <a:buClr>
                <a:schemeClr val="bg1"/>
              </a:buClr>
              <a:buSzPts val="1400"/>
              <a:buFont typeface="Roboto"/>
              <a:buChar char="●"/>
            </a:pPr>
            <a:r>
              <a:rPr lang="en-GB" sz="1800" b="1" dirty="0">
                <a:solidFill>
                  <a:srgbClr val="FCED25"/>
                </a:solidFill>
                <a:latin typeface="+mn-lt"/>
                <a:ea typeface="Roboto"/>
                <a:cs typeface="Roboto"/>
                <a:sym typeface="Roboto"/>
              </a:rPr>
              <a:t>100%</a:t>
            </a:r>
            <a:r>
              <a:rPr lang="en-GB" sz="1800" dirty="0">
                <a:solidFill>
                  <a:srgbClr val="FCED25"/>
                </a:solidFill>
                <a:latin typeface="+mn-lt"/>
                <a:ea typeface="Roboto"/>
                <a:cs typeface="Roboto"/>
                <a:sym typeface="Roboto"/>
              </a:rPr>
              <a:t> </a:t>
            </a:r>
            <a:r>
              <a:rPr lang="en-GB" sz="1200" dirty="0">
                <a:solidFill>
                  <a:schemeClr val="bg1"/>
                </a:solidFill>
                <a:latin typeface="+mn-lt"/>
                <a:ea typeface="Roboto"/>
                <a:cs typeface="Roboto"/>
                <a:sym typeface="Roboto"/>
              </a:rPr>
              <a:t>of the existing energy is sourced from the grid &amp; Diesel which primarily relies on fossil fuel-based generation for its energy production.</a:t>
            </a:r>
          </a:p>
          <a:p>
            <a:pPr marL="89999" indent="-317499">
              <a:buClr>
                <a:schemeClr val="bg1"/>
              </a:buClr>
              <a:buSzPts val="1400"/>
              <a:buFont typeface="Roboto"/>
              <a:buChar char="●"/>
            </a:pPr>
            <a:r>
              <a:rPr lang="en-US" sz="1200" b="1" dirty="0" err="1" smtClean="0">
                <a:solidFill>
                  <a:srgbClr val="FF0000"/>
                </a:solidFill>
                <a:latin typeface="+mn-lt"/>
                <a:ea typeface="Roboto"/>
                <a:cs typeface="Roboto"/>
              </a:rPr>
              <a:t>Sat 3</a:t>
            </a:r>
            <a:r>
              <a:rPr lang="en-US" sz="1200" b="1" dirty="0" smtClean="0">
                <a:solidFill>
                  <a:srgbClr val="FF0000"/>
                </a:solidFill>
                <a:latin typeface="+mn-lt"/>
                <a:ea typeface="Roboto"/>
                <a:cs typeface="Roboto"/>
              </a:rPr>
              <a:t> </a:t>
            </a:r>
            <a:r>
              <a:rPr lang="en-US" sz="1200" dirty="0">
                <a:solidFill>
                  <a:schemeClr val="bg1"/>
                </a:solidFill>
                <a:latin typeface="+mn-lt"/>
                <a:ea typeface="Roboto"/>
                <a:cs typeface="Roboto"/>
              </a:rPr>
              <a:t>saw the highest single-day consumption.</a:t>
            </a:r>
          </a:p>
          <a:p>
            <a:pPr marL="89999" indent="-317499">
              <a:buClr>
                <a:schemeClr val="bg1"/>
              </a:buClr>
              <a:buSzPts val="1400"/>
              <a:buFont typeface="Roboto"/>
              <a:buChar char="●"/>
            </a:pPr>
            <a:r>
              <a:rPr lang="en-US" sz="1200" dirty="0">
                <a:solidFill>
                  <a:schemeClr val="bg1"/>
                </a:solidFill>
                <a:latin typeface="+mn-lt"/>
                <a:ea typeface="Roboto"/>
                <a:cs typeface="Roboto"/>
              </a:rPr>
              <a:t>The highest recorded peak is </a:t>
            </a:r>
            <a:r>
              <a:rPr lang="en-US" sz="1200" b="1" dirty="0" err="1" smtClean="0">
                <a:solidFill>
                  <a:srgbClr val="FF0000"/>
                </a:solidFill>
                <a:latin typeface="+mn-lt"/>
                <a:ea typeface="Roboto"/>
                <a:cs typeface="Roboto"/>
              </a:rPr>
              <a:t>581.</a:t>
            </a:r>
            <a:r>
              <a:rPr lang="en-US" sz="1200" b="1" dirty="0" smtClean="0">
                <a:solidFill>
                  <a:srgbClr val="FF0000"/>
                </a:solidFill>
                <a:latin typeface="+mn-lt"/>
                <a:ea typeface="Roboto"/>
                <a:cs typeface="Roboto"/>
              </a:rPr>
              <a:t>4</a:t>
            </a:r>
            <a:r>
              <a:rPr lang="en-US" sz="1200" b="1" dirty="0">
                <a:solidFill>
                  <a:srgbClr val="FF0000"/>
                </a:solidFill>
                <a:latin typeface="+mn-lt"/>
                <a:ea typeface="Roboto"/>
                <a:cs typeface="Roboto"/>
              </a:rPr>
              <a:t> kV</a:t>
            </a:r>
          </a:p>
          <a:p>
            <a:pPr marL="89999" lvl="0" indent="-317499" algn="l" rtl="0">
              <a:spcBef>
                <a:spcPts val="0"/>
              </a:spcBef>
              <a:spcAft>
                <a:spcPts val="0"/>
              </a:spcAft>
              <a:buClr>
                <a:schemeClr val="bg1"/>
              </a:buClr>
              <a:buSzPts val="1400"/>
              <a:buFont typeface="Roboto"/>
              <a:buChar char="●"/>
            </a:pPr>
            <a:endParaRPr sz="1200" dirty="0">
              <a:solidFill>
                <a:schemeClr val="bg1"/>
              </a:solidFill>
              <a:latin typeface="+mn-lt"/>
              <a:ea typeface="Roboto"/>
              <a:cs typeface="Roboto"/>
              <a:sym typeface="Roboto"/>
            </a:endParaRPr>
          </a:p>
        </p:txBody>
      </p:sp>
      <p:sp>
        <p:nvSpPr>
          <p:cNvPr id="75" name="Google Shape;75;p15"/>
          <p:cNvSpPr txBox="1"/>
          <p:nvPr/>
        </p:nvSpPr>
        <p:spPr>
          <a:xfrm>
            <a:off x="6960481" y="1016625"/>
            <a:ext cx="1829100" cy="80018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endParaRPr sz="1200" dirty="0">
              <a:solidFill>
                <a:srgbClr val="FFFFFF"/>
              </a:solidFill>
              <a:latin typeface="Calibri"/>
            </a:endParaRPr>
          </a:p>
        </p:txBody>
      </p:sp>
      <p:sp>
        <p:nvSpPr>
          <p:cNvPr id="6" name="Google Shape;75;p15">
            <a:extLst>
              <a:ext uri="{FF2B5EF4-FFF2-40B4-BE49-F238E27FC236}">
                <a16:creationId xmlns:a16="http://schemas.microsoft.com/office/drawing/2014/main" id="{7BE3DDC1-FF87-4083-ECC4-2C211FAD78BC}"/>
              </a:ext>
            </a:extLst>
          </p:cNvPr>
          <p:cNvSpPr txBox="1"/>
          <p:nvPr/>
        </p:nvSpPr>
        <p:spPr>
          <a:xfrm>
            <a:off x="370945" y="826719"/>
            <a:ext cx="1984328"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Energy Share:  </a:t>
            </a:r>
            <a:r>
              <a:rPr lang="en-GB" sz="900" b="1" dirty="0">
                <a:solidFill>
                  <a:srgbClr val="323D4F"/>
                </a:solidFill>
                <a:latin typeface="+mn-lt"/>
                <a:ea typeface="Roboto"/>
                <a:cs typeface="Roboto"/>
                <a:sym typeface="Roboto"/>
              </a:rPr>
              <a:t>Grid</a:t>
            </a:r>
            <a:r>
              <a:rPr lang="en-GB" sz="1200" b="1" dirty="0">
                <a:solidFill>
                  <a:srgbClr val="323D4F"/>
                </a:solidFill>
                <a:latin typeface="+mn-lt"/>
                <a:ea typeface="Roboto"/>
                <a:cs typeface="Roboto"/>
                <a:sym typeface="Roboto"/>
              </a:rPr>
              <a:t> + </a:t>
            </a:r>
            <a:r>
              <a:rPr lang="en-GB" sz="900" b="1" strike="sngStrike" dirty="0">
                <a:solidFill>
                  <a:srgbClr val="323D4F"/>
                </a:solidFill>
                <a:latin typeface="+mn-lt"/>
                <a:ea typeface="Roboto"/>
                <a:cs typeface="Roboto"/>
                <a:sym typeface="Roboto"/>
              </a:rPr>
              <a:t>Renewable</a:t>
            </a:r>
            <a:endParaRPr sz="1200" b="1" strike="sngStrike" dirty="0">
              <a:solidFill>
                <a:srgbClr val="323D4F"/>
              </a:solidFill>
              <a:latin typeface="+mn-lt"/>
              <a:ea typeface="Roboto"/>
              <a:cs typeface="Roboto"/>
              <a:sym typeface="Roboto"/>
            </a:endParaRPr>
          </a:p>
        </p:txBody>
      </p:sp>
      <p:sp>
        <p:nvSpPr>
          <p:cNvPr id="11" name="Google Shape;75;p15">
            <a:extLst>
              <a:ext uri="{FF2B5EF4-FFF2-40B4-BE49-F238E27FC236}">
                <a16:creationId xmlns:a16="http://schemas.microsoft.com/office/drawing/2014/main" id="{6DABE1D0-2D08-D4CF-1D9B-82FB56C61C43}"/>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err="1">
                <a:solidFill>
                  <a:srgbClr val="323D4F"/>
                </a:solidFill>
                <a:latin typeface="+mn-lt"/>
                <a:ea typeface="Roboto"/>
                <a:cs typeface="Roboto"/>
                <a:sym typeface="Roboto"/>
              </a:rPr>
              <a:t>Metalware’s</a:t>
            </a:r>
            <a:r>
              <a:rPr lang="en-GB" sz="1800" b="1" dirty="0">
                <a:solidFill>
                  <a:srgbClr val="323D4F"/>
                </a:solidFill>
                <a:latin typeface="+mn-lt"/>
                <a:ea typeface="Roboto"/>
                <a:cs typeface="Roboto"/>
                <a:sym typeface="Roboto"/>
              </a:rPr>
              <a:t> Energy Share Snapshot for August</a:t>
            </a:r>
            <a:endParaRPr lang="en-GB" sz="1800" dirty="0">
              <a:solidFill>
                <a:srgbClr val="323D4F"/>
              </a:solidFill>
              <a:latin typeface="+mn-lt"/>
              <a:ea typeface="Roboto"/>
              <a:cs typeface="Roboto"/>
              <a:sym typeface="Roboto"/>
            </a:endParaRPr>
          </a:p>
        </p:txBody>
      </p:sp>
      <p:sp>
        <p:nvSpPr>
          <p:cNvPr id="22" name="Google Shape;75;p15">
            <a:extLst>
              <a:ext uri="{FF2B5EF4-FFF2-40B4-BE49-F238E27FC236}">
                <a16:creationId xmlns:a16="http://schemas.microsoft.com/office/drawing/2014/main" id="{46EB92A3-930A-AFB5-7D37-F69CEB1A89FF}"/>
              </a:ext>
            </a:extLst>
          </p:cNvPr>
          <p:cNvSpPr txBox="1"/>
          <p:nvPr/>
        </p:nvSpPr>
        <p:spPr>
          <a:xfrm>
            <a:off x="3716046" y="2923998"/>
            <a:ext cx="2609916"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Highest &amp; Lowest Consumption in a Day</a:t>
            </a:r>
            <a:endParaRPr sz="1200" b="1" dirty="0">
              <a:solidFill>
                <a:srgbClr val="323D4F"/>
              </a:solidFill>
              <a:latin typeface="+mn-lt"/>
              <a:ea typeface="Roboto"/>
              <a:cs typeface="Roboto"/>
              <a:sym typeface="Roboto"/>
            </a:endParaRPr>
          </a:p>
        </p:txBody>
      </p:sp>
      <p:sp>
        <p:nvSpPr>
          <p:cNvPr id="13" name="Rectangle: Rounded Corners 12">
            <a:extLst>
              <a:ext uri="{FF2B5EF4-FFF2-40B4-BE49-F238E27FC236}">
                <a16:creationId xmlns:a16="http://schemas.microsoft.com/office/drawing/2014/main" id="{14B295F4-0DF3-71DD-45CC-DC57EFEB4874}"/>
              </a:ext>
            </a:extLst>
          </p:cNvPr>
          <p:cNvSpPr/>
          <p:nvPr/>
        </p:nvSpPr>
        <p:spPr>
          <a:xfrm>
            <a:off x="223618" y="2693095"/>
            <a:ext cx="3084042" cy="2201780"/>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3" name="Google Shape;75;p15">
            <a:extLst>
              <a:ext uri="{FF2B5EF4-FFF2-40B4-BE49-F238E27FC236}">
                <a16:creationId xmlns:a16="http://schemas.microsoft.com/office/drawing/2014/main" id="{805E6A1D-2661-A0F0-026D-0224B33D910E}"/>
              </a:ext>
            </a:extLst>
          </p:cNvPr>
          <p:cNvSpPr txBox="1"/>
          <p:nvPr/>
        </p:nvSpPr>
        <p:spPr>
          <a:xfrm>
            <a:off x="452777" y="2913365"/>
            <a:ext cx="2525397"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Highest &amp; Lowest Peak in a Day</a:t>
            </a:r>
            <a:endParaRPr sz="1200" b="1" dirty="0">
              <a:solidFill>
                <a:srgbClr val="323D4F"/>
              </a:solidFill>
              <a:latin typeface="+mn-lt"/>
              <a:ea typeface="Roboto"/>
              <a:cs typeface="Roboto"/>
              <a:sym typeface="Roboto"/>
            </a:endParaRPr>
          </a:p>
        </p:txBody>
      </p:sp>
      <p:graphicFrame>
        <p:nvGraphicFramePr>
          <p:cNvPr id="4" name="Table 3">
            <a:extLst>
              <a:ext uri="{FF2B5EF4-FFF2-40B4-BE49-F238E27FC236}">
                <a16:creationId xmlns:a16="http://schemas.microsoft.com/office/drawing/2014/main" id="{DFBE6A89-DC0F-0E3A-6856-94DF8031AE80}"/>
              </a:ext>
            </a:extLst>
          </p:cNvPr>
          <p:cNvGraphicFramePr>
            <a:graphicFrameLocks noGrp="1"/>
          </p:cNvGraphicFramePr>
          <p:nvPr>
            <p:extLst>
              <p:ext uri="{D42A27DB-BD31-4B8C-83A1-F6EECF244321}">
                <p14:modId xmlns:p14="http://schemas.microsoft.com/office/powerpoint/2010/main" val="562498130"/>
              </p:ext>
            </p:extLst>
          </p:nvPr>
        </p:nvGraphicFramePr>
        <p:xfrm>
          <a:off x="400032" y="3348088"/>
          <a:ext cx="1266416" cy="1143000"/>
        </p:xfrm>
        <a:graphic>
          <a:graphicData uri="http://schemas.openxmlformats.org/drawingml/2006/table">
            <a:tbl>
              <a:tblPr>
                <a:tableStyleId>{073A0DAA-6AF3-43AB-8588-CEC1D06C72B9}</a:tableStyleId>
              </a:tblPr>
              <a:tblGrid>
                <a:gridCol w="666768">
                  <a:extLst>
                    <a:ext uri="{9D8B030D-6E8A-4147-A177-3AD203B41FA5}">
                      <a16:colId xmlns:a16="http://schemas.microsoft.com/office/drawing/2014/main" val="2802093663"/>
                    </a:ext>
                  </a:extLst>
                </a:gridCol>
                <a:gridCol w="599648">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Highest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581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6</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558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Fri 2</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553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21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551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546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3</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graphicFrame>
        <p:nvGraphicFramePr>
          <p:cNvPr id="7" name="Table 6">
            <a:extLst>
              <a:ext uri="{FF2B5EF4-FFF2-40B4-BE49-F238E27FC236}">
                <a16:creationId xmlns:a16="http://schemas.microsoft.com/office/drawing/2014/main" id="{5A98DD9B-AB1A-F48A-C4E2-B1D030D8804A}"/>
              </a:ext>
            </a:extLst>
          </p:cNvPr>
          <p:cNvGraphicFramePr>
            <a:graphicFrameLocks noGrp="1"/>
          </p:cNvGraphicFramePr>
          <p:nvPr>
            <p:extLst>
              <p:ext uri="{D42A27DB-BD31-4B8C-83A1-F6EECF244321}">
                <p14:modId xmlns:p14="http://schemas.microsoft.com/office/powerpoint/2010/main" val="1004382241"/>
              </p:ext>
            </p:extLst>
          </p:nvPr>
        </p:nvGraphicFramePr>
        <p:xfrm>
          <a:off x="1866997" y="3354391"/>
          <a:ext cx="1266416" cy="1143000"/>
        </p:xfrm>
        <a:graphic>
          <a:graphicData uri="http://schemas.openxmlformats.org/drawingml/2006/table">
            <a:tbl>
              <a:tblPr>
                <a:tableStyleId>{073A0DAA-6AF3-43AB-8588-CEC1D06C72B9}</a:tableStyleId>
              </a:tblPr>
              <a:tblGrid>
                <a:gridCol w="631632">
                  <a:extLst>
                    <a:ext uri="{9D8B030D-6E8A-4147-A177-3AD203B41FA5}">
                      <a16:colId xmlns:a16="http://schemas.microsoft.com/office/drawing/2014/main" val="2802093663"/>
                    </a:ext>
                  </a:extLst>
                </a:gridCol>
                <a:gridCol w="634784">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Lowest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100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Mon 19</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227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Mon 26</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318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380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18</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405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25</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cxnSp>
        <p:nvCxnSpPr>
          <p:cNvPr id="9" name="Straight Connector 8">
            <a:extLst>
              <a:ext uri="{FF2B5EF4-FFF2-40B4-BE49-F238E27FC236}">
                <a16:creationId xmlns:a16="http://schemas.microsoft.com/office/drawing/2014/main" id="{5ACAA1F1-74B1-E3E5-2405-78E8E72D065F}"/>
              </a:ext>
            </a:extLst>
          </p:cNvPr>
          <p:cNvCxnSpPr>
            <a:cxnSpLocks/>
          </p:cNvCxnSpPr>
          <p:nvPr/>
        </p:nvCxnSpPr>
        <p:spPr>
          <a:xfrm>
            <a:off x="1765639" y="3321193"/>
            <a:ext cx="0" cy="1250807"/>
          </a:xfrm>
          <a:prstGeom prst="line">
            <a:avLst/>
          </a:prstGeom>
        </p:spPr>
        <p:style>
          <a:lnRef idx="1">
            <a:schemeClr val="accent4"/>
          </a:lnRef>
          <a:fillRef idx="0">
            <a:schemeClr val="accent4"/>
          </a:fillRef>
          <a:effectRef idx="0">
            <a:schemeClr val="accent4"/>
          </a:effectRef>
          <a:fontRef idx="minor">
            <a:schemeClr val="tx1"/>
          </a:fontRef>
        </p:style>
      </p:cxnSp>
      <p:graphicFrame>
        <p:nvGraphicFramePr>
          <p:cNvPr id="16" name="Table 15">
            <a:extLst>
              <a:ext uri="{FF2B5EF4-FFF2-40B4-BE49-F238E27FC236}">
                <a16:creationId xmlns:a16="http://schemas.microsoft.com/office/drawing/2014/main" id="{E7B973C3-1807-1551-ADDF-81664089611C}"/>
              </a:ext>
            </a:extLst>
          </p:cNvPr>
          <p:cNvGraphicFramePr>
            <a:graphicFrameLocks noGrp="1"/>
          </p:cNvGraphicFramePr>
          <p:nvPr>
            <p:extLst>
              <p:ext uri="{D42A27DB-BD31-4B8C-83A1-F6EECF244321}">
                <p14:modId xmlns:p14="http://schemas.microsoft.com/office/powerpoint/2010/main" val="701052966"/>
              </p:ext>
            </p:extLst>
          </p:nvPr>
        </p:nvGraphicFramePr>
        <p:xfrm>
          <a:off x="3643040" y="3352786"/>
          <a:ext cx="1266416" cy="1609725"/>
        </p:xfrm>
        <a:graphic>
          <a:graphicData uri="http://schemas.openxmlformats.org/drawingml/2006/table">
            <a:tbl>
              <a:tblPr>
                <a:tableStyleId>{073A0DAA-6AF3-43AB-8588-CEC1D06C72B9}</a:tableStyleId>
              </a:tblPr>
              <a:tblGrid>
                <a:gridCol w="821384">
                  <a:extLst>
                    <a:ext uri="{9D8B030D-6E8A-4147-A177-3AD203B41FA5}">
                      <a16:colId xmlns:a16="http://schemas.microsoft.com/office/drawing/2014/main" val="2802093663"/>
                    </a:ext>
                  </a:extLst>
                </a:gridCol>
                <a:gridCol w="445032">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Highest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9116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3</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9015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8995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Fri 30</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8965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31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8720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21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graphicFrame>
        <p:nvGraphicFramePr>
          <p:cNvPr id="17" name="Table 16">
            <a:extLst>
              <a:ext uri="{FF2B5EF4-FFF2-40B4-BE49-F238E27FC236}">
                <a16:creationId xmlns:a16="http://schemas.microsoft.com/office/drawing/2014/main" id="{9FAB731E-AB16-FA52-9D69-5708EB7E27AD}"/>
              </a:ext>
            </a:extLst>
          </p:cNvPr>
          <p:cNvGraphicFramePr>
            <a:graphicFrameLocks noGrp="1"/>
          </p:cNvGraphicFramePr>
          <p:nvPr>
            <p:extLst>
              <p:ext uri="{D42A27DB-BD31-4B8C-83A1-F6EECF244321}">
                <p14:modId xmlns:p14="http://schemas.microsoft.com/office/powerpoint/2010/main" val="704772747"/>
              </p:ext>
            </p:extLst>
          </p:nvPr>
        </p:nvGraphicFramePr>
        <p:xfrm>
          <a:off x="5110005" y="3359089"/>
          <a:ext cx="1266416" cy="1609725"/>
        </p:xfrm>
        <a:graphic>
          <a:graphicData uri="http://schemas.openxmlformats.org/drawingml/2006/table">
            <a:tbl>
              <a:tblPr>
                <a:tableStyleId>{073A0DAA-6AF3-43AB-8588-CEC1D06C72B9}</a:tableStyleId>
              </a:tblPr>
              <a:tblGrid>
                <a:gridCol w="797736">
                  <a:extLst>
                    <a:ext uri="{9D8B030D-6E8A-4147-A177-3AD203B41FA5}">
                      <a16:colId xmlns:a16="http://schemas.microsoft.com/office/drawing/2014/main" val="2802093663"/>
                    </a:ext>
                  </a:extLst>
                </a:gridCol>
                <a:gridCol w="468680">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Lowest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97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Mon 19</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1016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Mon 26</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2098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2447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4</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3562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18</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cxnSp>
        <p:nvCxnSpPr>
          <p:cNvPr id="18" name="Straight Connector 17">
            <a:extLst>
              <a:ext uri="{FF2B5EF4-FFF2-40B4-BE49-F238E27FC236}">
                <a16:creationId xmlns:a16="http://schemas.microsoft.com/office/drawing/2014/main" id="{BF2100CC-C3AF-5B6B-CA70-1524992C7C8C}"/>
              </a:ext>
            </a:extLst>
          </p:cNvPr>
          <p:cNvCxnSpPr>
            <a:cxnSpLocks/>
          </p:cNvCxnSpPr>
          <p:nvPr/>
        </p:nvCxnSpPr>
        <p:spPr>
          <a:xfrm>
            <a:off x="5008647" y="3325891"/>
            <a:ext cx="0" cy="1250807"/>
          </a:xfrm>
          <a:prstGeom prst="line">
            <a:avLst/>
          </a:prstGeom>
        </p:spPr>
        <p:style>
          <a:lnRef idx="1">
            <a:schemeClr val="accent4"/>
          </a:lnRef>
          <a:fillRef idx="0">
            <a:schemeClr val="accent4"/>
          </a:fillRef>
          <a:effectRef idx="0">
            <a:schemeClr val="accent4"/>
          </a:effectRef>
          <a:fontRef idx="minor">
            <a:schemeClr val="tx1"/>
          </a:fontRef>
        </p:style>
      </p:cxnSp>
      <p:pic>
        <p:nvPicPr>
          <p:cNvPr id="2" name="Google Shape;304;p1">
            <a:extLst>
              <a:ext uri="{FF2B5EF4-FFF2-40B4-BE49-F238E27FC236}">
                <a16:creationId xmlns:a16="http://schemas.microsoft.com/office/drawing/2014/main" id="{CA4C370F-B1ED-64D7-4C63-5DB0F268A23F}"/>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8" name="Slide Number Placeholder 7">
            <a:extLst>
              <a:ext uri="{FF2B5EF4-FFF2-40B4-BE49-F238E27FC236}">
                <a16:creationId xmlns:a16="http://schemas.microsoft.com/office/drawing/2014/main" id="{92D27F87-64F1-A8AE-19C8-6CB629AD3A89}"/>
              </a:ext>
            </a:extLst>
          </p:cNvPr>
          <p:cNvSpPr>
            <a:spLocks noGrp="1"/>
          </p:cNvSpPr>
          <p:nvPr>
            <p:ph type="sldNum" idx="12"/>
          </p:nvPr>
        </p:nvSpPr>
        <p:spPr>
          <a:xfrm>
            <a:off x="7600679" y="470814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2</a:t>
            </a:fld>
            <a:endParaRPr lang="en-GB" dirty="0">
              <a:solidFill>
                <a:schemeClr val="bg1"/>
              </a:solidFill>
            </a:endParaRPr>
          </a:p>
        </p:txBody>
      </p:sp>
      <p:sp>
        <p:nvSpPr>
          <p:cNvPr id="10" name="Google Shape;75;p15">
            <a:extLst>
              <a:ext uri="{FF2B5EF4-FFF2-40B4-BE49-F238E27FC236}">
                <a16:creationId xmlns:a16="http://schemas.microsoft.com/office/drawing/2014/main" id="{871EF775-17B9-5FB9-3AEB-56F2F22DE8C2}"/>
              </a:ext>
            </a:extLst>
          </p:cNvPr>
          <p:cNvSpPr txBox="1"/>
          <p:nvPr/>
        </p:nvSpPr>
        <p:spPr>
          <a:xfrm>
            <a:off x="452776" y="4633579"/>
            <a:ext cx="2525397" cy="161583"/>
          </a:xfrm>
          <a:prstGeom prst="rect">
            <a:avLst/>
          </a:prstGeom>
          <a:noFill/>
          <a:ln>
            <a:noFill/>
          </a:ln>
        </p:spPr>
        <p:txBody>
          <a:bodyPr spcFirstLastPara="1" wrap="square" lIns="0" tIns="0" rIns="0" bIns="0" anchor="t" anchorCtr="0">
            <a:spAutoFit/>
          </a:bodyPr>
          <a:lstStyle/>
          <a:p>
            <a:pPr algn="ctr"/>
            <a:r>
              <a:rPr sz="950" b="1">
                <a:solidFill>
                  <a:srgbClr val="CC2E0A"/>
                </a:solidFill>
                <a:latin typeface="Calibri (Body)"/>
              </a:rPr>
              <a:t>Average Monthly Peak – 484.52 kVA</a:t>
            </a:r>
          </a:p>
        </p:txBody>
      </p:sp>
      <p:sp>
        <p:nvSpPr>
          <p:cNvPr id="12" name="Google Shape;75;p15">
            <a:extLst>
              <a:ext uri="{FF2B5EF4-FFF2-40B4-BE49-F238E27FC236}">
                <a16:creationId xmlns:a16="http://schemas.microsoft.com/office/drawing/2014/main" id="{349F9A75-3FCE-A645-686B-90120D6368BE}"/>
              </a:ext>
            </a:extLst>
          </p:cNvPr>
          <p:cNvSpPr txBox="1"/>
          <p:nvPr/>
        </p:nvSpPr>
        <p:spPr>
          <a:xfrm>
            <a:off x="3566212" y="4642146"/>
            <a:ext cx="2934629" cy="161583"/>
          </a:xfrm>
          <a:prstGeom prst="rect">
            <a:avLst/>
          </a:prstGeom>
          <a:noFill/>
          <a:ln>
            <a:noFill/>
          </a:ln>
        </p:spPr>
        <p:txBody>
          <a:bodyPr spcFirstLastPara="1" wrap="square" lIns="0" tIns="0" rIns="0" bIns="0" anchor="t" anchorCtr="0">
            <a:spAutoFit/>
          </a:bodyPr>
          <a:lstStyle/>
          <a:p>
            <a:pPr algn="ctr"/>
            <a:r>
              <a:rPr sz="950" b="1">
                <a:solidFill>
                  <a:srgbClr val="CC2E0A"/>
                </a:solidFill>
                <a:latin typeface="Calibri (Body)"/>
              </a:rPr>
              <a:t>Average Monthly Consumption – 6742.52 kVAh</a:t>
            </a:r>
          </a:p>
        </p:txBody>
      </p:sp>
      <p:graphicFrame>
        <p:nvGraphicFramePr>
          <p:cNvPr id="15" name="Chart 14">
            <a:extLst>
              <a:ext uri="{FF2B5EF4-FFF2-40B4-BE49-F238E27FC236}">
                <a16:creationId xmlns:a16="http://schemas.microsoft.com/office/drawing/2014/main" id="{C1FAAA95-91F5-45CE-A1DF-D88DB425A150}"/>
              </a:ext>
            </a:extLst>
          </p:cNvPr>
          <p:cNvGraphicFramePr>
            <a:graphicFrameLocks/>
          </p:cNvGraphicFramePr>
          <p:nvPr>
            <p:extLst>
              <p:ext uri="{D42A27DB-BD31-4B8C-83A1-F6EECF244321}">
                <p14:modId xmlns:p14="http://schemas.microsoft.com/office/powerpoint/2010/main" val="118078663"/>
              </p:ext>
            </p:extLst>
          </p:nvPr>
        </p:nvGraphicFramePr>
        <p:xfrm>
          <a:off x="276725" y="1011385"/>
          <a:ext cx="6100011" cy="1575405"/>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14" name="Rectangle: Rounded Corners 8">
            <a:extLst>
              <a:ext uri="{FF2B5EF4-FFF2-40B4-BE49-F238E27FC236}">
                <a16:creationId xmlns:a16="http://schemas.microsoft.com/office/drawing/2014/main" id="{F8D0E57E-42D6-291A-5280-3F3F5A314AB5}"/>
              </a:ext>
            </a:extLst>
          </p:cNvPr>
          <p:cNvSpPr/>
          <p:nvPr/>
        </p:nvSpPr>
        <p:spPr>
          <a:xfrm>
            <a:off x="223619" y="3397829"/>
            <a:ext cx="6398854" cy="1555014"/>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9" name="Rectangle: Rounded Corners 8">
            <a:extLst>
              <a:ext uri="{FF2B5EF4-FFF2-40B4-BE49-F238E27FC236}">
                <a16:creationId xmlns:a16="http://schemas.microsoft.com/office/drawing/2014/main" id="{BDEAC395-64C8-E1DA-8B4C-4E973B553AAE}"/>
              </a:ext>
            </a:extLst>
          </p:cNvPr>
          <p:cNvSpPr/>
          <p:nvPr/>
        </p:nvSpPr>
        <p:spPr>
          <a:xfrm>
            <a:off x="223619" y="660973"/>
            <a:ext cx="6398854" cy="2649494"/>
          </a:xfrm>
          <a:prstGeom prst="rect">
            <a:avLst/>
          </a:prstGeom>
          <a:no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72" name="Google Shape;72;p15"/>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5" name="Google Shape;75;p15"/>
          <p:cNvSpPr txBox="1"/>
          <p:nvPr/>
        </p:nvSpPr>
        <p:spPr>
          <a:xfrm>
            <a:off x="6960481" y="1016625"/>
            <a:ext cx="1829100" cy="335473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p>
          <a:p>
            <a:r>
              <a:rPr sz="1200" dirty="0">
                <a:solidFill>
                  <a:srgbClr val="FFFFFF"/>
                </a:solidFill>
                <a:latin typeface="Calibri"/>
              </a:rPr>
              <a:t>• Highest energy consumption on </a:t>
            </a:r>
            <a:r>
              <a:rPr lang="en-US" sz="1200" b="1" dirty="0" smtClean="0">
                <a:solidFill>
                  <a:srgbClr val="FF0000"/>
                </a:solidFill>
                <a:latin typeface="Calibri"/>
              </a:rPr>
              <a:t>Fri</a:t>
            </a:r>
            <a:r>
              <a:rPr sz="1200" b="1" dirty="0" smtClean="0">
                <a:solidFill>
                  <a:srgbClr val="FF0000"/>
                </a:solidFill>
                <a:latin typeface="Calibri"/>
              </a:rPr>
              <a:t>da</a:t>
            </a:r>
            <a:r>
              <a:rPr lang="en-US" sz="1200" b="1" dirty="0" smtClean="0">
                <a:solidFill>
                  <a:srgbClr val="FF0000"/>
                </a:solidFill>
                <a:latin typeface="Calibri"/>
              </a:rPr>
              <a:t>y (4</a:t>
            </a:r>
            <a:r>
              <a:rPr sz="1200" b="1" dirty="0" smtClean="0">
                <a:solidFill>
                  <a:srgbClr val="FF0000"/>
                </a:solidFill>
                <a:latin typeface="Calibri"/>
              </a:rPr>
              <a:t>2</a:t>
            </a:r>
            <a:r>
              <a:rPr sz="1200" b="1" dirty="0">
                <a:solidFill>
                  <a:srgbClr val="FF0000"/>
                </a:solidFill>
                <a:latin typeface="Calibri"/>
              </a:rPr>
              <a:t>271.3</a:t>
            </a:r>
            <a:r>
              <a:rPr sz="1200" b="1" dirty="0">
                <a:solidFill>
                  <a:srgbClr val="FFFFFF"/>
                </a:solidFill>
                <a:latin typeface="Calibri"/>
              </a:rPr>
              <a:t> k</a:t>
            </a:r>
            <a:r>
              <a:rPr sz="1200" dirty="0">
                <a:solidFill>
                  <a:srgbClr val="FFFFFF"/>
                </a:solidFill>
                <a:latin typeface="Calibri"/>
              </a:rPr>
              <a:t>VAh), confirming peak operational act</a:t>
            </a:r>
          </a:p>
          <a:p>
            <a:r>
              <a:rPr sz="1200" dirty="0">
                <a:solidFill>
                  <a:srgbClr val="FFFFFF"/>
                </a:solidFill>
                <a:latin typeface="Calibri"/>
              </a:rPr>
              <a:t>• </a:t>
            </a:r>
            <a:r>
              <a:rPr lang="en-US" sz="1200" dirty="0" smtClean="0">
                <a:solidFill>
                  <a:srgbClr val="FFFFFF"/>
                </a:solidFill>
                <a:latin typeface="Calibri"/>
              </a:rPr>
              <a:t>Mon</a:t>
            </a:r>
            <a:r>
              <a:rPr sz="1200" dirty="0" smtClean="0">
                <a:solidFill>
                  <a:srgbClr val="FFFFFF"/>
                </a:solidFill>
                <a:latin typeface="Calibri"/>
              </a:rPr>
              <a:t>d</a:t>
            </a:r>
            <a:r>
              <a:rPr sz="1200" dirty="0">
                <a:solidFill>
                  <a:srgbClr val="FFFFFF"/>
                </a:solidFill>
                <a:latin typeface="Calibri"/>
              </a:rPr>
              <a:t>ay shows lowest usa</a:t>
            </a:r>
            <a:r>
              <a:rPr sz="1200" b="1" dirty="0" smtClean="0">
                <a:solidFill>
                  <a:srgbClr val="FF0000"/>
                </a:solidFill>
                <a:latin typeface="Calibri"/>
              </a:rPr>
              <a:t>g</a:t>
            </a:r>
            <a:r>
              <a:rPr lang="en-US" sz="1200" b="1" dirty="0" smtClean="0">
                <a:solidFill>
                  <a:srgbClr val="FF0000"/>
                </a:solidFill>
                <a:latin typeface="Calibri"/>
              </a:rPr>
              <a:t>e (1</a:t>
            </a:r>
            <a:r>
              <a:rPr sz="1200" b="1" dirty="0" smtClean="0">
                <a:solidFill>
                  <a:srgbClr val="FF0000"/>
                </a:solidFill>
                <a:latin typeface="Calibri"/>
              </a:rPr>
              <a:t>1</a:t>
            </a:r>
            <a:r>
              <a:rPr sz="1200" b="1" dirty="0">
                <a:solidFill>
                  <a:srgbClr val="FF0000"/>
                </a:solidFill>
                <a:latin typeface="Calibri"/>
              </a:rPr>
              <a:t>713.5</a:t>
            </a:r>
            <a:r>
              <a:rPr sz="1200" dirty="0">
                <a:solidFill>
                  <a:srgbClr val="FFFFFF"/>
                </a:solidFill>
                <a:latin typeface="Calibri"/>
              </a:rPr>
              <a:t> kVAh), indicating minimal weekend opera</a:t>
            </a:r>
          </a:p>
          <a:p>
            <a:r>
              <a:rPr sz="1200" dirty="0">
                <a:solidFill>
                  <a:srgbClr val="FFFFFF"/>
                </a:solidFill>
                <a:latin typeface="Calibri"/>
              </a:rPr>
              <a:t>• Energy usage is nearly balanced between </a:t>
            </a:r>
            <a:r>
              <a:rPr sz="1200" b="1" dirty="0">
                <a:solidFill>
                  <a:srgbClr val="FF0000"/>
                </a:solidFill>
                <a:latin typeface="Calibri"/>
              </a:rPr>
              <a:t>weekdays </a:t>
            </a:r>
            <a:r>
              <a:rPr sz="1200" b="1" dirty="0" smtClean="0">
                <a:solidFill>
                  <a:srgbClr val="FF0000"/>
                </a:solidFill>
                <a:latin typeface="Calibri"/>
              </a:rPr>
              <a:t>(</a:t>
            </a:r>
            <a:r>
              <a:rPr lang="en-US" sz="1200" b="1" dirty="0" smtClean="0">
                <a:solidFill>
                  <a:srgbClr val="FF0000"/>
                </a:solidFill>
                <a:latin typeface="Calibri"/>
              </a:rPr>
              <a:t>93.</a:t>
            </a:r>
            <a:r>
              <a:rPr sz="1200" b="1" dirty="0" smtClean="0">
                <a:solidFill>
                  <a:srgbClr val="FF0000"/>
                </a:solidFill>
                <a:latin typeface="Calibri"/>
              </a:rPr>
              <a:t>7%</a:t>
            </a:r>
            <a:r>
              <a:rPr sz="1200" dirty="0" smtClean="0">
                <a:solidFill>
                  <a:srgbClr val="FFFFFF"/>
                </a:solidFill>
                <a:latin typeface="Calibri"/>
              </a:rPr>
              <a:t>)</a:t>
            </a:r>
            <a:r>
              <a:rPr sz="1200" dirty="0">
                <a:solidFill>
                  <a:srgbClr val="FFFFFF"/>
                </a:solidFill>
                <a:latin typeface="Calibri"/>
              </a:rPr>
              <a:t> and</a:t>
            </a:r>
            <a:r>
              <a:rPr sz="1200" b="1" dirty="0">
                <a:solidFill>
                  <a:srgbClr val="FF0000"/>
                </a:solidFill>
                <a:latin typeface="Calibri"/>
              </a:rPr>
              <a:t> weekends</a:t>
            </a:r>
            <a:r>
              <a:rPr sz="1200" b="1" dirty="0" smtClean="0">
                <a:solidFill>
                  <a:srgbClr val="FF0000"/>
                </a:solidFill>
                <a:latin typeface="Calibri"/>
              </a:rPr>
              <a:t> </a:t>
            </a:r>
            <a:r>
              <a:rPr lang="en-US" sz="1200" b="1" dirty="0" smtClean="0">
                <a:solidFill>
                  <a:srgbClr val="FF0000"/>
                </a:solidFill>
                <a:latin typeface="Calibri"/>
              </a:rPr>
              <a:t>(6.</a:t>
            </a:r>
            <a:r>
              <a:rPr sz="1200" b="1" dirty="0" smtClean="0">
                <a:solidFill>
                  <a:srgbClr val="FF0000"/>
                </a:solidFill>
                <a:latin typeface="Calibri"/>
              </a:rPr>
              <a:t>3%</a:t>
            </a:r>
            <a:r>
              <a:rPr sz="1200" dirty="0" smtClean="0">
                <a:solidFill>
                  <a:srgbClr val="FFFFFF"/>
                </a:solidFill>
                <a:latin typeface="Calibri"/>
              </a:rPr>
              <a:t>)</a:t>
            </a:r>
            <a:endParaRPr sz="1200" dirty="0">
              <a:solidFill>
                <a:srgbClr val="FFFFFF"/>
              </a:solidFill>
              <a:latin typeface="Calibri"/>
            </a:endParaRPr>
          </a:p>
          <a:p>
            <a:r>
              <a:rPr sz="1200" dirty="0">
                <a:solidFill>
                  <a:srgbClr val="FFFFFF"/>
                </a:solidFill>
                <a:latin typeface="Calibri"/>
              </a:rPr>
              <a:t>• Weekdays dominate consumption </a:t>
            </a:r>
            <a:r>
              <a:rPr sz="1200" b="1" dirty="0" smtClean="0">
                <a:solidFill>
                  <a:srgbClr val="FF0000"/>
                </a:solidFill>
                <a:latin typeface="Calibri"/>
              </a:rPr>
              <a:t>(</a:t>
            </a:r>
            <a:r>
              <a:rPr lang="en-US" sz="1200" b="1" dirty="0" smtClean="0">
                <a:solidFill>
                  <a:srgbClr val="FF0000"/>
                </a:solidFill>
                <a:latin typeface="Calibri"/>
              </a:rPr>
              <a:t>93.</a:t>
            </a:r>
            <a:r>
              <a:rPr sz="1200" b="1" dirty="0" smtClean="0">
                <a:solidFill>
                  <a:srgbClr val="FF0000"/>
                </a:solidFill>
                <a:latin typeface="Calibri"/>
              </a:rPr>
              <a:t>7%)</a:t>
            </a:r>
            <a:r>
              <a:rPr sz="1200" dirty="0">
                <a:solidFill>
                  <a:srgbClr val="FFFFFF"/>
                </a:solidFill>
                <a:latin typeface="Calibri"/>
              </a:rPr>
              <a:t> with minimal weekend activity</a:t>
            </a:r>
            <a:r>
              <a:rPr sz="1200" b="1" dirty="0" smtClean="0">
                <a:solidFill>
                  <a:srgbClr val="FF0000"/>
                </a:solidFill>
                <a:latin typeface="Calibri"/>
              </a:rPr>
              <a:t> </a:t>
            </a:r>
            <a:r>
              <a:rPr lang="en-US" sz="1200" b="1" dirty="0" smtClean="0">
                <a:solidFill>
                  <a:srgbClr val="FF0000"/>
                </a:solidFill>
                <a:latin typeface="Calibri"/>
              </a:rPr>
              <a:t>(6.</a:t>
            </a:r>
            <a:r>
              <a:rPr sz="1200" b="1" dirty="0" smtClean="0">
                <a:solidFill>
                  <a:srgbClr val="FF0000"/>
                </a:solidFill>
                <a:latin typeface="Calibri"/>
              </a:rPr>
              <a:t>3%)</a:t>
            </a:r>
            <a:endParaRPr sz="1200" b="1" dirty="0">
              <a:solidFill>
                <a:srgbClr val="FF0000"/>
              </a:solidFill>
              <a:latin typeface="Calibri"/>
            </a:endParaRPr>
          </a:p>
        </p:txBody>
      </p:sp>
      <p:sp>
        <p:nvSpPr>
          <p:cNvPr id="11" name="Google Shape;75;p15">
            <a:extLst>
              <a:ext uri="{FF2B5EF4-FFF2-40B4-BE49-F238E27FC236}">
                <a16:creationId xmlns:a16="http://schemas.microsoft.com/office/drawing/2014/main" id="{6DABE1D0-2D08-D4CF-1D9B-82FB56C61C43}"/>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Daily &amp; Weekly Consumption Patterns  </a:t>
            </a:r>
            <a:endParaRPr lang="en-GB" sz="1800" dirty="0">
              <a:solidFill>
                <a:srgbClr val="323D4F"/>
              </a:solidFill>
              <a:latin typeface="+mn-lt"/>
              <a:ea typeface="Roboto"/>
              <a:cs typeface="Roboto"/>
              <a:sym typeface="Roboto"/>
            </a:endParaRPr>
          </a:p>
        </p:txBody>
      </p:sp>
      <p:sp>
        <p:nvSpPr>
          <p:cNvPr id="3" name="Google Shape;75;p15">
            <a:extLst>
              <a:ext uri="{FF2B5EF4-FFF2-40B4-BE49-F238E27FC236}">
                <a16:creationId xmlns:a16="http://schemas.microsoft.com/office/drawing/2014/main" id="{468F749E-BF19-C73F-CAFA-A6B3EDA2FDDC}"/>
              </a:ext>
            </a:extLst>
          </p:cNvPr>
          <p:cNvSpPr txBox="1"/>
          <p:nvPr/>
        </p:nvSpPr>
        <p:spPr>
          <a:xfrm>
            <a:off x="250813" y="755262"/>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Energy by Weekday &amp; Weekend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endParaRPr sz="1100" b="1" dirty="0">
              <a:solidFill>
                <a:srgbClr val="323D4F"/>
              </a:solidFill>
              <a:latin typeface="+mn-lt"/>
              <a:ea typeface="Roboto"/>
              <a:cs typeface="Roboto"/>
              <a:sym typeface="Roboto"/>
            </a:endParaRPr>
          </a:p>
        </p:txBody>
      </p:sp>
      <p:sp>
        <p:nvSpPr>
          <p:cNvPr id="6" name="Google Shape;75;p15">
            <a:extLst>
              <a:ext uri="{FF2B5EF4-FFF2-40B4-BE49-F238E27FC236}">
                <a16:creationId xmlns:a16="http://schemas.microsoft.com/office/drawing/2014/main" id="{8DF286D9-E04D-032E-3A88-1A1ADBF0812C}"/>
              </a:ext>
            </a:extLst>
          </p:cNvPr>
          <p:cNvSpPr txBox="1"/>
          <p:nvPr/>
        </p:nvSpPr>
        <p:spPr>
          <a:xfrm>
            <a:off x="3423046" y="750350"/>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Average Energy during the week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endParaRPr sz="1100" b="1" dirty="0">
              <a:solidFill>
                <a:srgbClr val="323D4F"/>
              </a:solidFill>
              <a:latin typeface="+mn-lt"/>
              <a:ea typeface="Roboto"/>
              <a:cs typeface="Roboto"/>
              <a:sym typeface="Roboto"/>
            </a:endParaRPr>
          </a:p>
        </p:txBody>
      </p:sp>
      <p:sp>
        <p:nvSpPr>
          <p:cNvPr id="8" name="Google Shape;75;p15">
            <a:extLst>
              <a:ext uri="{FF2B5EF4-FFF2-40B4-BE49-F238E27FC236}">
                <a16:creationId xmlns:a16="http://schemas.microsoft.com/office/drawing/2014/main" id="{CD4F2B24-3807-0C21-CD3E-644FEAE2E4BD}"/>
              </a:ext>
            </a:extLst>
          </p:cNvPr>
          <p:cNvSpPr txBox="1"/>
          <p:nvPr/>
        </p:nvSpPr>
        <p:spPr>
          <a:xfrm>
            <a:off x="3584341" y="3466614"/>
            <a:ext cx="2525397" cy="15248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a:solidFill>
                  <a:srgbClr val="323D4F"/>
                </a:solidFill>
                <a:latin typeface="+mn-lt"/>
                <a:ea typeface="Roboto"/>
                <a:cs typeface="Roboto"/>
                <a:sym typeface="Roboto"/>
              </a:rPr>
              <a:t>Day vs Night Consumption</a:t>
            </a:r>
            <a:endParaRPr sz="1100" b="1">
              <a:solidFill>
                <a:srgbClr val="323D4F"/>
              </a:solidFill>
              <a:latin typeface="+mn-lt"/>
              <a:ea typeface="Roboto"/>
              <a:cs typeface="Roboto"/>
              <a:sym typeface="Roboto"/>
            </a:endParaRPr>
          </a:p>
        </p:txBody>
      </p:sp>
      <p:sp>
        <p:nvSpPr>
          <p:cNvPr id="15" name="Google Shape;75;p15">
            <a:extLst>
              <a:ext uri="{FF2B5EF4-FFF2-40B4-BE49-F238E27FC236}">
                <a16:creationId xmlns:a16="http://schemas.microsoft.com/office/drawing/2014/main" id="{41A90494-E3E6-51B0-CFB3-06F17A0C5EB5}"/>
              </a:ext>
            </a:extLst>
          </p:cNvPr>
          <p:cNvSpPr txBox="1"/>
          <p:nvPr/>
        </p:nvSpPr>
        <p:spPr>
          <a:xfrm>
            <a:off x="171938" y="3513536"/>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Day vs Night Consumption Cost</a:t>
            </a:r>
            <a:endParaRPr sz="1100" b="1" dirty="0">
              <a:solidFill>
                <a:srgbClr val="323D4F"/>
              </a:solidFill>
              <a:latin typeface="+mn-lt"/>
              <a:ea typeface="Roboto"/>
              <a:cs typeface="Roboto"/>
              <a:sym typeface="Roboto"/>
            </a:endParaRPr>
          </a:p>
        </p:txBody>
      </p:sp>
      <p:pic>
        <p:nvPicPr>
          <p:cNvPr id="2" name="Google Shape;304;p1">
            <a:extLst>
              <a:ext uri="{FF2B5EF4-FFF2-40B4-BE49-F238E27FC236}">
                <a16:creationId xmlns:a16="http://schemas.microsoft.com/office/drawing/2014/main" id="{9C3BBC77-8791-83BD-7544-CCEAB3D5D0C7}"/>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6" name="Slide Number Placeholder 7">
            <a:extLst>
              <a:ext uri="{FF2B5EF4-FFF2-40B4-BE49-F238E27FC236}">
                <a16:creationId xmlns:a16="http://schemas.microsoft.com/office/drawing/2014/main" id="{4D9C9B53-FFFF-99B5-E4EB-2FB7BF5F693B}"/>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3</a:t>
            </a:fld>
            <a:endParaRPr lang="en-GB" dirty="0">
              <a:solidFill>
                <a:schemeClr val="bg1"/>
              </a:solidFill>
            </a:endParaRPr>
          </a:p>
        </p:txBody>
      </p:sp>
      <p:graphicFrame>
        <p:nvGraphicFramePr>
          <p:cNvPr id="17" name="Chart 16">
            <a:extLst>
              <a:ext uri="{FF2B5EF4-FFF2-40B4-BE49-F238E27FC236}">
                <a16:creationId xmlns:a16="http://schemas.microsoft.com/office/drawing/2014/main" id="{93457521-6986-A54A-5E0A-4C4F419D9D47}"/>
              </a:ext>
            </a:extLst>
          </p:cNvPr>
          <p:cNvGraphicFramePr>
            <a:graphicFrameLocks/>
          </p:cNvGraphicFramePr>
          <p:nvPr>
            <p:extLst>
              <p:ext uri="{D42A27DB-BD31-4B8C-83A1-F6EECF244321}">
                <p14:modId xmlns:p14="http://schemas.microsoft.com/office/powerpoint/2010/main" val="424485437"/>
              </p:ext>
            </p:extLst>
          </p:nvPr>
        </p:nvGraphicFramePr>
        <p:xfrm>
          <a:off x="-753544" y="846933"/>
          <a:ext cx="4337885" cy="245406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17">
            <a:extLst>
              <a:ext uri="{FF2B5EF4-FFF2-40B4-BE49-F238E27FC236}">
                <a16:creationId xmlns:a16="http://schemas.microsoft.com/office/drawing/2014/main" id="{CC2A0BEE-D594-F520-9DFA-8AFECD6C4424}"/>
              </a:ext>
            </a:extLst>
          </p:cNvPr>
          <p:cNvGraphicFramePr>
            <a:graphicFrameLocks/>
          </p:cNvGraphicFramePr>
          <p:nvPr>
            <p:extLst>
              <p:ext uri="{D42A27DB-BD31-4B8C-83A1-F6EECF244321}">
                <p14:modId xmlns:p14="http://schemas.microsoft.com/office/powerpoint/2010/main" val="1749567762"/>
              </p:ext>
            </p:extLst>
          </p:nvPr>
        </p:nvGraphicFramePr>
        <p:xfrm>
          <a:off x="2774033" y="846933"/>
          <a:ext cx="3848440" cy="246292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9" name="Chart 18">
            <a:extLst>
              <a:ext uri="{FF2B5EF4-FFF2-40B4-BE49-F238E27FC236}">
                <a16:creationId xmlns:a16="http://schemas.microsoft.com/office/drawing/2014/main" id="{DD8DFBA6-11D1-79D1-F602-BB813C78B18D}"/>
              </a:ext>
            </a:extLst>
          </p:cNvPr>
          <p:cNvGraphicFramePr>
            <a:graphicFrameLocks/>
          </p:cNvGraphicFramePr>
          <p:nvPr>
            <p:extLst>
              <p:ext uri="{D42A27DB-BD31-4B8C-83A1-F6EECF244321}">
                <p14:modId xmlns:p14="http://schemas.microsoft.com/office/powerpoint/2010/main" val="746947606"/>
              </p:ext>
            </p:extLst>
          </p:nvPr>
        </p:nvGraphicFramePr>
        <p:xfrm>
          <a:off x="3337533" y="3392801"/>
          <a:ext cx="2983833" cy="162426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 name="Chart 3">
            <a:extLst>
              <a:ext uri="{FF2B5EF4-FFF2-40B4-BE49-F238E27FC236}">
                <a16:creationId xmlns:a16="http://schemas.microsoft.com/office/drawing/2014/main" id="{EF2B6BC3-67CE-BC60-8E4E-6DA0BB141DE2}"/>
              </a:ext>
            </a:extLst>
          </p:cNvPr>
          <p:cNvGraphicFramePr>
            <a:graphicFrameLocks/>
          </p:cNvGraphicFramePr>
          <p:nvPr>
            <p:extLst>
              <p:ext uri="{D42A27DB-BD31-4B8C-83A1-F6EECF244321}">
                <p14:modId xmlns:p14="http://schemas.microsoft.com/office/powerpoint/2010/main" val="3657969248"/>
              </p:ext>
            </p:extLst>
          </p:nvPr>
        </p:nvGraphicFramePr>
        <p:xfrm>
          <a:off x="315817" y="3681663"/>
          <a:ext cx="3486161" cy="1167062"/>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9352F379-36A8-02C3-669C-C87E73680B4E}"/>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E75D4FF2-AE88-B9E1-F1D9-D10F0B72305D}"/>
              </a:ext>
            </a:extLst>
          </p:cNvPr>
          <p:cNvSpPr/>
          <p:nvPr/>
        </p:nvSpPr>
        <p:spPr>
          <a:xfrm>
            <a:off x="6865776"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4" name="Google Shape;74;p15">
            <a:extLst>
              <a:ext uri="{FF2B5EF4-FFF2-40B4-BE49-F238E27FC236}">
                <a16:creationId xmlns:a16="http://schemas.microsoft.com/office/drawing/2014/main" id="{626BF388-5542-511E-2B60-03DFAC3345E8}"/>
              </a:ext>
            </a:extLst>
          </p:cNvPr>
          <p:cNvSpPr txBox="1"/>
          <p:nvPr/>
        </p:nvSpPr>
        <p:spPr>
          <a:xfrm>
            <a:off x="6922025" y="1337900"/>
            <a:ext cx="1933800" cy="2585293"/>
          </a:xfrm>
          <a:prstGeom prst="rect">
            <a:avLst/>
          </a:prstGeom>
          <a:noFill/>
          <a:ln>
            <a:noFill/>
          </a:ln>
        </p:spPr>
        <p:txBody>
          <a:bodyPr spcFirstLastPara="1" wrap="square" lIns="270000" tIns="91425" rIns="91425" bIns="91425" anchor="t" anchorCtr="0">
            <a:spAutoFit/>
          </a:bodyPr>
          <a:lstStyle/>
          <a:p>
            <a:pPr marL="89999" lvl="0" indent="-317499">
              <a:buClr>
                <a:schemeClr val="bg1"/>
              </a:buClr>
              <a:buSzPts val="1400"/>
              <a:buFont typeface="Roboto"/>
              <a:buChar char="●"/>
            </a:pPr>
            <a:r>
              <a:rPr lang="en-US" sz="1200" b="1" dirty="0" smtClean="0">
                <a:solidFill>
                  <a:srgbClr val="FF0000"/>
                </a:solidFill>
                <a:latin typeface="Calibri"/>
              </a:rPr>
              <a:t>PLA</a:t>
            </a:r>
            <a:r>
              <a:rPr sz="1200" b="1" dirty="0" smtClean="0">
                <a:solidFill>
                  <a:srgbClr val="FF0000"/>
                </a:solidFill>
                <a:latin typeface="Calibri"/>
              </a:rPr>
              <a:t>TI</a:t>
            </a:r>
            <a:r>
              <a:rPr lang="en-US" sz="1200" b="1" dirty="0" smtClean="0">
                <a:solidFill>
                  <a:srgbClr val="FF0000"/>
                </a:solidFill>
                <a:latin typeface="Calibri"/>
              </a:rPr>
              <a:t>NG (</a:t>
            </a:r>
            <a:r>
              <a:rPr sz="1200" b="1" dirty="0" smtClean="0">
                <a:solidFill>
                  <a:srgbClr val="FF0000"/>
                </a:solidFill>
                <a:latin typeface="Calibri"/>
              </a:rPr>
              <a:t>8</a:t>
            </a:r>
            <a:r>
              <a:rPr sz="1200" b="1" dirty="0">
                <a:solidFill>
                  <a:srgbClr val="FF0000"/>
                </a:solidFill>
                <a:latin typeface="Calibri"/>
              </a:rPr>
              <a:t>7032</a:t>
            </a:r>
            <a:r>
              <a:rPr sz="1200" dirty="0">
                <a:solidFill>
                  <a:srgbClr val="FFFFFF"/>
                </a:solidFill>
                <a:latin typeface="Calibri"/>
              </a:rPr>
              <a:t>.8 kVA</a:t>
            </a:r>
            <a:r>
              <a:rPr lang="en-US" sz="1200" b="1" dirty="0" smtClean="0">
                <a:solidFill>
                  <a:srgbClr val="FF0000"/>
                </a:solidFill>
                <a:latin typeface="Calibri"/>
              </a:rPr>
              <a:t>h) a</a:t>
            </a:r>
            <a:r>
              <a:rPr sz="1200" b="1" dirty="0" smtClean="0">
                <a:solidFill>
                  <a:srgbClr val="FF0000"/>
                </a:solidFill>
                <a:latin typeface="Calibri"/>
              </a:rPr>
              <a:t>nd</a:t>
            </a:r>
            <a:r>
              <a:rPr lang="en-US" sz="1200" b="1" dirty="0" smtClean="0">
                <a:solidFill>
                  <a:srgbClr val="FF0000"/>
                </a:solidFill>
                <a:latin typeface="Calibri"/>
              </a:rPr>
              <a:t> DIE </a:t>
            </a:r>
            <a:r>
              <a:rPr sz="1200" b="1" dirty="0" smtClean="0">
                <a:solidFill>
                  <a:srgbClr val="FF0000"/>
                </a:solidFill>
                <a:latin typeface="Calibri"/>
              </a:rPr>
              <a:t>C</a:t>
            </a:r>
            <a:r>
              <a:rPr sz="1200" b="1" dirty="0">
                <a:solidFill>
                  <a:srgbClr val="FF0000"/>
                </a:solidFill>
                <a:latin typeface="Calibri"/>
              </a:rPr>
              <a:t>ASTING</a:t>
            </a:r>
            <a:r>
              <a:rPr sz="1200" dirty="0">
                <a:solidFill>
                  <a:srgbClr val="FFFFFF"/>
                </a:solidFill>
                <a:latin typeface="Calibri"/>
              </a:rPr>
              <a:t> + CHINA BUFFING + CNC (S87032.8 kVAh) are the top two energy-consuming processes, tog</a:t>
            </a:r>
          </a:p>
          <a:p>
            <a:pPr marL="89999" lvl="0" indent="-317499" algn="l" rtl="0">
              <a:spcBef>
                <a:spcPts val="0"/>
              </a:spcBef>
              <a:spcAft>
                <a:spcPts val="0"/>
              </a:spcAft>
              <a:buClr>
                <a:schemeClr val="bg1"/>
              </a:buClr>
              <a:buSzPts val="1400"/>
              <a:buFont typeface="Roboto"/>
              <a:buChar char="●"/>
            </a:pPr>
            <a:r>
              <a:rPr sz="1200" dirty="0">
                <a:solidFill>
                  <a:srgbClr val="FFFFFF"/>
                </a:solidFill>
                <a:latin typeface="Calibri"/>
              </a:rPr>
              <a:t>Lowest consumption areas include </a:t>
            </a:r>
            <a:r>
              <a:rPr lang="en-US" sz="1200" b="1" dirty="0" smtClean="0">
                <a:solidFill>
                  <a:srgbClr val="FF0000"/>
                </a:solidFill>
                <a:latin typeface="Calibri"/>
              </a:rPr>
              <a:t>TOO</a:t>
            </a:r>
            <a:r>
              <a:rPr sz="1200" b="1" dirty="0" smtClean="0">
                <a:solidFill>
                  <a:srgbClr val="FF0000"/>
                </a:solidFill>
                <a:latin typeface="Calibri"/>
              </a:rPr>
              <a:t>L </a:t>
            </a:r>
            <a:r>
              <a:rPr lang="en-US" sz="1200" b="1" dirty="0" smtClean="0">
                <a:solidFill>
                  <a:srgbClr val="FF0000"/>
                </a:solidFill>
                <a:latin typeface="Calibri"/>
              </a:rPr>
              <a:t>ROOM</a:t>
            </a:r>
            <a:r>
              <a:rPr sz="1200" b="1" dirty="0" smtClean="0">
                <a:solidFill>
                  <a:srgbClr val="FF0000"/>
                </a:solidFill>
                <a:latin typeface="Calibri"/>
              </a:rPr>
              <a:t>, </a:t>
            </a:r>
            <a:r>
              <a:rPr sz="1200" b="1" dirty="0">
                <a:solidFill>
                  <a:srgbClr val="FF0000"/>
                </a:solidFill>
                <a:latin typeface="Calibri"/>
              </a:rPr>
              <a:t>ADMI</a:t>
            </a:r>
            <a:r>
              <a:rPr lang="en-US" sz="1200" b="1" dirty="0" smtClean="0">
                <a:solidFill>
                  <a:srgbClr val="FF0000"/>
                </a:solidFill>
                <a:latin typeface="Calibri"/>
              </a:rPr>
              <a:t>N BL</a:t>
            </a:r>
            <a:r>
              <a:rPr sz="1200" b="1" dirty="0" smtClean="0">
                <a:solidFill>
                  <a:srgbClr val="FF0000"/>
                </a:solidFill>
                <a:latin typeface="Calibri"/>
              </a:rPr>
              <a:t>OC</a:t>
            </a:r>
            <a:r>
              <a:rPr sz="1200" dirty="0">
                <a:solidFill>
                  <a:srgbClr val="FFFFFF"/>
                </a:solidFill>
                <a:latin typeface="Calibri"/>
              </a:rPr>
              <a:t>K, and RUMBLE, indicating minimal op</a:t>
            </a:r>
            <a:endParaRPr sz="1200" dirty="0">
              <a:solidFill>
                <a:schemeClr val="bg1"/>
              </a:solidFill>
              <a:latin typeface="+mn-lt"/>
              <a:ea typeface="Roboto"/>
              <a:cs typeface="Roboto"/>
              <a:sym typeface="Roboto"/>
            </a:endParaRPr>
          </a:p>
        </p:txBody>
      </p:sp>
      <p:sp>
        <p:nvSpPr>
          <p:cNvPr id="75" name="Google Shape;75;p15">
            <a:extLst>
              <a:ext uri="{FF2B5EF4-FFF2-40B4-BE49-F238E27FC236}">
                <a16:creationId xmlns:a16="http://schemas.microsoft.com/office/drawing/2014/main" id="{B0722481-590C-CBD6-6C28-E663F5D8899A}"/>
              </a:ext>
            </a:extLst>
          </p:cNvPr>
          <p:cNvSpPr txBox="1"/>
          <p:nvPr/>
        </p:nvSpPr>
        <p:spPr>
          <a:xfrm>
            <a:off x="6960481" y="1016625"/>
            <a:ext cx="1829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solidFill>
                  <a:schemeClr val="bg1"/>
                </a:solidFill>
                <a:latin typeface="+mn-lt"/>
                <a:ea typeface="Roboto"/>
                <a:cs typeface="Roboto"/>
                <a:sym typeface="Roboto"/>
              </a:rPr>
              <a:t>Elements Intelligence</a:t>
            </a:r>
            <a:endParaRPr>
              <a:solidFill>
                <a:schemeClr val="bg1"/>
              </a:solidFill>
              <a:latin typeface="+mn-lt"/>
              <a:ea typeface="Roboto"/>
              <a:cs typeface="Roboto"/>
              <a:sym typeface="Roboto"/>
            </a:endParaRPr>
          </a:p>
        </p:txBody>
      </p:sp>
      <p:sp>
        <p:nvSpPr>
          <p:cNvPr id="11" name="Google Shape;75;p15">
            <a:extLst>
              <a:ext uri="{FF2B5EF4-FFF2-40B4-BE49-F238E27FC236}">
                <a16:creationId xmlns:a16="http://schemas.microsoft.com/office/drawing/2014/main" id="{8A4EF7CD-A604-E39B-34BB-BB6ADEB340D0}"/>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a:solidFill>
                  <a:srgbClr val="323D4F"/>
                </a:solidFill>
                <a:latin typeface="+mn-lt"/>
                <a:ea typeface="Roboto"/>
                <a:cs typeface="Roboto"/>
                <a:sym typeface="Roboto"/>
              </a:rPr>
              <a:t>Energy Split across Zones</a:t>
            </a:r>
            <a:endParaRPr lang="en-GB" sz="1800">
              <a:solidFill>
                <a:srgbClr val="323D4F"/>
              </a:solidFill>
              <a:latin typeface="+mn-lt"/>
              <a:ea typeface="Roboto"/>
              <a:cs typeface="Roboto"/>
              <a:sym typeface="Roboto"/>
            </a:endParaRPr>
          </a:p>
        </p:txBody>
      </p:sp>
      <p:sp>
        <p:nvSpPr>
          <p:cNvPr id="17" name="Rectangle: Rounded Corners 16">
            <a:extLst>
              <a:ext uri="{FF2B5EF4-FFF2-40B4-BE49-F238E27FC236}">
                <a16:creationId xmlns:a16="http://schemas.microsoft.com/office/drawing/2014/main" id="{4789F80D-1A94-5F41-3625-5F6D79B70EB6}"/>
              </a:ext>
            </a:extLst>
          </p:cNvPr>
          <p:cNvSpPr/>
          <p:nvPr/>
        </p:nvSpPr>
        <p:spPr>
          <a:xfrm>
            <a:off x="186041" y="623707"/>
            <a:ext cx="6512839" cy="4357722"/>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2" name="Google Shape;75;p15">
            <a:extLst>
              <a:ext uri="{FF2B5EF4-FFF2-40B4-BE49-F238E27FC236}">
                <a16:creationId xmlns:a16="http://schemas.microsoft.com/office/drawing/2014/main" id="{AB77CBE5-E695-632D-ACF2-569ABE16285D}"/>
              </a:ext>
            </a:extLst>
          </p:cNvPr>
          <p:cNvSpPr txBox="1"/>
          <p:nvPr/>
        </p:nvSpPr>
        <p:spPr>
          <a:xfrm>
            <a:off x="912986" y="867339"/>
            <a:ext cx="2755004" cy="169277"/>
          </a:xfrm>
          <a:prstGeom prst="rect">
            <a:avLst/>
          </a:prstGeom>
          <a:noFill/>
          <a:ln>
            <a:noFill/>
          </a:ln>
        </p:spPr>
        <p:txBody>
          <a:bodyPr spcFirstLastPara="1" wrap="square" lIns="0" tIns="0" rIns="0" bIns="0" anchor="t" anchorCtr="0">
            <a:spAutoFit/>
          </a:bodyPr>
          <a:lstStyle/>
          <a:p>
            <a:pPr marL="0" lvl="0" indent="0" rtl="0">
              <a:spcBef>
                <a:spcPts val="0"/>
              </a:spcBef>
              <a:spcAft>
                <a:spcPts val="0"/>
              </a:spcAft>
              <a:buNone/>
            </a:pPr>
            <a:r>
              <a:rPr lang="en-GB" sz="1100" b="1" dirty="0">
                <a:solidFill>
                  <a:srgbClr val="323D4F"/>
                </a:solidFill>
                <a:latin typeface="+mn-lt"/>
                <a:ea typeface="Roboto"/>
                <a:cs typeface="Roboto"/>
                <a:sym typeface="Roboto"/>
              </a:rPr>
              <a:t>Zone wise consumption – for the Entire month</a:t>
            </a:r>
          </a:p>
        </p:txBody>
      </p:sp>
      <p:pic>
        <p:nvPicPr>
          <p:cNvPr id="3" name="Google Shape;304;p1">
            <a:extLst>
              <a:ext uri="{FF2B5EF4-FFF2-40B4-BE49-F238E27FC236}">
                <a16:creationId xmlns:a16="http://schemas.microsoft.com/office/drawing/2014/main" id="{FB0138FD-937F-5661-CDFD-8F545F4F83AD}"/>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5" name="Slide Number Placeholder 7">
            <a:extLst>
              <a:ext uri="{FF2B5EF4-FFF2-40B4-BE49-F238E27FC236}">
                <a16:creationId xmlns:a16="http://schemas.microsoft.com/office/drawing/2014/main" id="{94441B13-CB91-7861-9B80-D6E8475599C1}"/>
              </a:ext>
            </a:extLst>
          </p:cNvPr>
          <p:cNvSpPr>
            <a:spLocks noGrp="1"/>
          </p:cNvSpPr>
          <p:nvPr>
            <p:ph type="sldNum" idx="12"/>
          </p:nvPr>
        </p:nvSpPr>
        <p:spPr>
          <a:xfrm>
            <a:off x="7636776"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4</a:t>
            </a:fld>
            <a:endParaRPr lang="en-GB" dirty="0">
              <a:solidFill>
                <a:schemeClr val="bg1"/>
              </a:solidFill>
            </a:endParaRPr>
          </a:p>
        </p:txBody>
      </p:sp>
      <p:graphicFrame>
        <p:nvGraphicFramePr>
          <p:cNvPr id="6" name="Chart 5">
            <a:extLst>
              <a:ext uri="{FF2B5EF4-FFF2-40B4-BE49-F238E27FC236}">
                <a16:creationId xmlns:a16="http://schemas.microsoft.com/office/drawing/2014/main" id="{5DCFCF4A-BFD4-4A4B-85CF-754A16C1E958}"/>
              </a:ext>
            </a:extLst>
          </p:cNvPr>
          <p:cNvGraphicFramePr>
            <a:graphicFrameLocks/>
          </p:cNvGraphicFramePr>
          <p:nvPr>
            <p:extLst>
              <p:ext uri="{D42A27DB-BD31-4B8C-83A1-F6EECF244321}">
                <p14:modId xmlns:p14="http://schemas.microsoft.com/office/powerpoint/2010/main" val="1803828337"/>
              </p:ext>
            </p:extLst>
          </p:nvPr>
        </p:nvGraphicFramePr>
        <p:xfrm>
          <a:off x="303295" y="1022684"/>
          <a:ext cx="6265947" cy="383807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64085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05BA6E7-B393-7BA1-21B7-9992CFBD814D}"/>
              </a:ext>
            </a:extLst>
          </p:cNvPr>
          <p:cNvSpPr/>
          <p:nvPr/>
        </p:nvSpPr>
        <p:spPr>
          <a:xfrm>
            <a:off x="223617" y="623706"/>
            <a:ext cx="6380383" cy="4295427"/>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6AC15477-C05C-DB29-20E9-BC70C038D6DE}"/>
              </a:ext>
            </a:extLst>
          </p:cNvPr>
          <p:cNvSpPr txBox="1"/>
          <p:nvPr/>
        </p:nvSpPr>
        <p:spPr>
          <a:xfrm>
            <a:off x="223617" y="162071"/>
            <a:ext cx="680931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Watt's Trending Monthly </a:t>
            </a:r>
            <a:endParaRPr lang="en-GB" sz="1800" dirty="0">
              <a:solidFill>
                <a:srgbClr val="323D4F"/>
              </a:solidFill>
              <a:latin typeface="+mn-lt"/>
              <a:ea typeface="Roboto"/>
              <a:cs typeface="Roboto"/>
              <a:sym typeface="Roboto"/>
            </a:endParaRPr>
          </a:p>
        </p:txBody>
      </p:sp>
      <p:sp>
        <p:nvSpPr>
          <p:cNvPr id="2" name="Google Shape;72;p15">
            <a:extLst>
              <a:ext uri="{FF2B5EF4-FFF2-40B4-BE49-F238E27FC236}">
                <a16:creationId xmlns:a16="http://schemas.microsoft.com/office/drawing/2014/main" id="{EEEE733F-6273-C5F0-C73C-71E0BA8A64CA}"/>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 name="Google Shape;74;p15">
            <a:extLst>
              <a:ext uri="{FF2B5EF4-FFF2-40B4-BE49-F238E27FC236}">
                <a16:creationId xmlns:a16="http://schemas.microsoft.com/office/drawing/2014/main" id="{F2F49A4D-B1BE-D444-5E99-9520556E5360}"/>
              </a:ext>
            </a:extLst>
          </p:cNvPr>
          <p:cNvSpPr txBox="1"/>
          <p:nvPr/>
        </p:nvSpPr>
        <p:spPr>
          <a:xfrm>
            <a:off x="6922025" y="1337900"/>
            <a:ext cx="1933800" cy="1292631"/>
          </a:xfrm>
          <a:prstGeom prst="rect">
            <a:avLst/>
          </a:prstGeom>
          <a:noFill/>
          <a:ln>
            <a:noFill/>
          </a:ln>
        </p:spPr>
        <p:txBody>
          <a:bodyPr spcFirstLastPara="1" wrap="square" lIns="270000" tIns="91425" rIns="91425" bIns="91425" anchor="t" anchorCtr="0">
            <a:spAutoFit/>
          </a:bodyPr>
          <a:lstStyle/>
          <a:p>
            <a:pPr marL="89999" indent="-317499">
              <a:buClr>
                <a:schemeClr val="bg1"/>
              </a:buClr>
              <a:buSzPts val="1400"/>
              <a:buFont typeface="Roboto"/>
              <a:buChar char="●"/>
            </a:pPr>
            <a:r>
              <a:rPr lang="en-US" sz="1200" dirty="0">
                <a:solidFill>
                  <a:schemeClr val="bg1"/>
                </a:solidFill>
                <a:latin typeface="+mn-lt"/>
                <a:ea typeface="Roboto"/>
                <a:cs typeface="Roboto"/>
              </a:rPr>
              <a:t>P Highest Consumption on Operating Days____</a:t>
            </a:r>
          </a:p>
          <a:p>
            <a:pPr marL="89999" indent="-317499">
              <a:buClr>
                <a:schemeClr val="bg1"/>
              </a:buClr>
              <a:buSzPts val="1400"/>
              <a:buFont typeface="Roboto"/>
              <a:buChar char="●"/>
            </a:pPr>
            <a:r>
              <a:rPr lang="en-US" sz="1200" dirty="0">
                <a:solidFill>
                  <a:schemeClr val="bg1"/>
                </a:solidFill>
                <a:latin typeface="+mn-lt"/>
                <a:ea typeface="Roboto"/>
                <a:cs typeface="Roboto"/>
                <a:sym typeface="Roboto"/>
              </a:rPr>
              <a:t>Lowest Consumption on operating days ____</a:t>
            </a:r>
            <a:endParaRPr sz="1200" dirty="0">
              <a:solidFill>
                <a:schemeClr val="bg1"/>
              </a:solidFill>
              <a:latin typeface="+mn-lt"/>
              <a:ea typeface="Roboto"/>
              <a:cs typeface="Roboto"/>
              <a:sym typeface="Roboto"/>
            </a:endParaRPr>
          </a:p>
        </p:txBody>
      </p:sp>
      <p:sp>
        <p:nvSpPr>
          <p:cNvPr id="8" name="Google Shape;75;p15">
            <a:extLst>
              <a:ext uri="{FF2B5EF4-FFF2-40B4-BE49-F238E27FC236}">
                <a16:creationId xmlns:a16="http://schemas.microsoft.com/office/drawing/2014/main" id="{3E243E34-AB34-4743-35C5-3729C7B8DD57}"/>
              </a:ext>
            </a:extLst>
          </p:cNvPr>
          <p:cNvSpPr txBox="1"/>
          <p:nvPr/>
        </p:nvSpPr>
        <p:spPr>
          <a:xfrm>
            <a:off x="6960481" y="1016625"/>
            <a:ext cx="1829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solidFill>
                  <a:schemeClr val="bg1"/>
                </a:solidFill>
                <a:latin typeface="+mn-lt"/>
                <a:ea typeface="Roboto"/>
                <a:cs typeface="Roboto"/>
                <a:sym typeface="Roboto"/>
              </a:rPr>
              <a:t>Elements Intelligence</a:t>
            </a:r>
            <a:endParaRPr>
              <a:solidFill>
                <a:schemeClr val="bg1"/>
              </a:solidFill>
              <a:latin typeface="+mn-lt"/>
              <a:ea typeface="Roboto"/>
              <a:cs typeface="Roboto"/>
              <a:sym typeface="Roboto"/>
            </a:endParaRPr>
          </a:p>
        </p:txBody>
      </p:sp>
      <p:pic>
        <p:nvPicPr>
          <p:cNvPr id="6" name="Google Shape;304;p1">
            <a:extLst>
              <a:ext uri="{FF2B5EF4-FFF2-40B4-BE49-F238E27FC236}">
                <a16:creationId xmlns:a16="http://schemas.microsoft.com/office/drawing/2014/main" id="{BB152E6C-6737-BF0E-B2DF-DE8C01448683}"/>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20" name="Slide Number Placeholder 7">
            <a:extLst>
              <a:ext uri="{FF2B5EF4-FFF2-40B4-BE49-F238E27FC236}">
                <a16:creationId xmlns:a16="http://schemas.microsoft.com/office/drawing/2014/main" id="{B83B6098-6C9E-9D27-4E68-7140688716A3}"/>
              </a:ext>
            </a:extLst>
          </p:cNvPr>
          <p:cNvSpPr>
            <a:spLocks noGrp="1"/>
          </p:cNvSpPr>
          <p:nvPr>
            <p:ph type="sldNum" idx="12"/>
          </p:nvPr>
        </p:nvSpPr>
        <p:spPr>
          <a:xfrm>
            <a:off x="7614575" y="4722333"/>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5</a:t>
            </a:fld>
            <a:endParaRPr lang="en-GB" dirty="0">
              <a:solidFill>
                <a:schemeClr val="bg1"/>
              </a:solidFill>
            </a:endParaRPr>
          </a:p>
        </p:txBody>
      </p:sp>
      <p:graphicFrame>
        <p:nvGraphicFramePr>
          <p:cNvPr id="21" name="Chart 20"/>
          <p:cNvGraphicFramePr>
            <a:graphicFrameLocks noGrp="1"/>
          </p:cNvGraphicFramePr>
          <p:nvPr/>
        </p:nvGraphicFramePr>
        <p:xfrm>
          <a:off x="244643" y="903997"/>
          <a:ext cx="6216315" cy="3920666"/>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1237596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AE5C360-B650-0999-713D-88B22E2D79B8}"/>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9AEC9E9-B402-51A6-A15E-BFA0DC2CA3DA}"/>
              </a:ext>
            </a:extLst>
          </p:cNvPr>
          <p:cNvSpPr/>
          <p:nvPr/>
        </p:nvSpPr>
        <p:spPr>
          <a:xfrm>
            <a:off x="223597" y="623706"/>
            <a:ext cx="6405803" cy="4357723"/>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1BA5493E-D060-D8CF-D242-3E0649FAD263}"/>
              </a:ext>
            </a:extLst>
          </p:cNvPr>
          <p:cNvSpPr txBox="1"/>
          <p:nvPr/>
        </p:nvSpPr>
        <p:spPr>
          <a:xfrm>
            <a:off x="223618" y="162071"/>
            <a:ext cx="381498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Highs &amp; Lows of the Month</a:t>
            </a:r>
            <a:endParaRPr sz="1800" dirty="0">
              <a:solidFill>
                <a:srgbClr val="323D4F"/>
              </a:solidFill>
              <a:latin typeface="+mn-lt"/>
              <a:ea typeface="Roboto"/>
              <a:cs typeface="Roboto"/>
              <a:sym typeface="Roboto"/>
            </a:endParaRPr>
          </a:p>
        </p:txBody>
      </p:sp>
      <p:sp>
        <p:nvSpPr>
          <p:cNvPr id="3" name="Google Shape;72;p15">
            <a:extLst>
              <a:ext uri="{FF2B5EF4-FFF2-40B4-BE49-F238E27FC236}">
                <a16:creationId xmlns:a16="http://schemas.microsoft.com/office/drawing/2014/main" id="{290DB93E-A2F0-745C-FF98-32E7516F869B}"/>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9E7C8648-0760-AE85-95C1-20C91516335B}"/>
              </a:ext>
            </a:extLst>
          </p:cNvPr>
          <p:cNvSpPr txBox="1"/>
          <p:nvPr/>
        </p:nvSpPr>
        <p:spPr>
          <a:xfrm>
            <a:off x="6960481" y="1016625"/>
            <a:ext cx="1829100" cy="301618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Peak demand reached 621.7 kVA on August 22, indicating maximum facility load.</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Lowest daily peak was 48.8 kVA on August 09, showing minimum operational demand.</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Average daily peak consumption: 485.2 kVA throughout August 2025.</a:t>
            </a:r>
          </a:p>
        </p:txBody>
      </p:sp>
      <p:pic>
        <p:nvPicPr>
          <p:cNvPr id="2" name="Google Shape;304;p1">
            <a:extLst>
              <a:ext uri="{FF2B5EF4-FFF2-40B4-BE49-F238E27FC236}">
                <a16:creationId xmlns:a16="http://schemas.microsoft.com/office/drawing/2014/main" id="{AF3C9181-4F5D-E782-BD3B-8AAE9C9724CC}"/>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0" name="Slide Number Placeholder 7">
            <a:extLst>
              <a:ext uri="{FF2B5EF4-FFF2-40B4-BE49-F238E27FC236}">
                <a16:creationId xmlns:a16="http://schemas.microsoft.com/office/drawing/2014/main" id="{077E160E-0B37-AA83-8A94-1ECA479AD5C7}"/>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6</a:t>
            </a:fld>
            <a:endParaRPr lang="en-GB" dirty="0">
              <a:solidFill>
                <a:schemeClr val="bg1"/>
              </a:solidFill>
            </a:endParaRPr>
          </a:p>
        </p:txBody>
      </p:sp>
      <p:graphicFrame>
        <p:nvGraphicFramePr>
          <p:cNvPr id="11" name="Chart 10"/>
          <p:cNvGraphicFramePr>
            <a:graphicFrameLocks noGrp="1"/>
          </p:cNvGraphicFramePr>
          <p:nvPr/>
        </p:nvGraphicFramePr>
        <p:xfrm>
          <a:off x="363255" y="789139"/>
          <a:ext cx="6150279" cy="4020856"/>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979881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15E54D3-EF11-6288-3406-E4D9D29A9EEA}"/>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179FF22-78A8-A46A-4290-FA7FEC29C133}"/>
              </a:ext>
            </a:extLst>
          </p:cNvPr>
          <p:cNvSpPr/>
          <p:nvPr/>
        </p:nvSpPr>
        <p:spPr>
          <a:xfrm>
            <a:off x="223597" y="673004"/>
            <a:ext cx="6392356" cy="1743625"/>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259E1C0C-801D-2BE5-1A2B-FD8169E88DA5}"/>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a:solidFill>
                  <a:srgbClr val="323D4F"/>
                </a:solidFill>
                <a:latin typeface="+mn-lt"/>
                <a:ea typeface="Roboto"/>
                <a:cs typeface="Roboto"/>
                <a:sym typeface="Roboto"/>
              </a:rPr>
              <a:t>Shift - wise Consumption Comparisons</a:t>
            </a:r>
            <a:endParaRPr sz="1800">
              <a:solidFill>
                <a:srgbClr val="323D4F"/>
              </a:solidFill>
              <a:latin typeface="+mn-lt"/>
              <a:ea typeface="Roboto"/>
              <a:cs typeface="Roboto"/>
              <a:sym typeface="Roboto"/>
            </a:endParaRPr>
          </a:p>
        </p:txBody>
      </p:sp>
      <p:sp>
        <p:nvSpPr>
          <p:cNvPr id="3" name="Google Shape;72;p15">
            <a:extLst>
              <a:ext uri="{FF2B5EF4-FFF2-40B4-BE49-F238E27FC236}">
                <a16:creationId xmlns:a16="http://schemas.microsoft.com/office/drawing/2014/main" id="{7FFEF64C-1E90-D665-E3F7-37840EB48A9D}"/>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A0597BD9-A800-F21D-E851-9B597198AD04}"/>
              </a:ext>
            </a:extLst>
          </p:cNvPr>
          <p:cNvSpPr txBox="1"/>
          <p:nvPr/>
        </p:nvSpPr>
        <p:spPr>
          <a:xfrm>
            <a:off x="6960481" y="1016625"/>
            <a:ext cx="1829100" cy="209285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Shift A consumed significantly more energy (123718.1 kVAh) than Shift B (84396.1 kVAh).</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Optimizing Shift A operations will lead to substantial cost savings.</a:t>
            </a:r>
          </a:p>
        </p:txBody>
      </p:sp>
      <p:sp>
        <p:nvSpPr>
          <p:cNvPr id="6" name="Google Shape;75;p15">
            <a:extLst>
              <a:ext uri="{FF2B5EF4-FFF2-40B4-BE49-F238E27FC236}">
                <a16:creationId xmlns:a16="http://schemas.microsoft.com/office/drawing/2014/main" id="{294B9D88-2F89-416C-B7B6-2E6717618815}"/>
              </a:ext>
            </a:extLst>
          </p:cNvPr>
          <p:cNvSpPr txBox="1"/>
          <p:nvPr/>
        </p:nvSpPr>
        <p:spPr>
          <a:xfrm>
            <a:off x="507340" y="894344"/>
            <a:ext cx="3575886" cy="169277"/>
          </a:xfrm>
          <a:prstGeom prst="rect">
            <a:avLst/>
          </a:prstGeom>
          <a:noFill/>
          <a:ln>
            <a:noFill/>
          </a:ln>
        </p:spPr>
        <p:txBody>
          <a:bodyPr spcFirstLastPara="1" wrap="square" lIns="0" tIns="0" rIns="0" bIns="0" anchor="t" anchorCtr="0">
            <a:spAutoFit/>
          </a:bodyPr>
          <a:lstStyle/>
          <a:p>
            <a:pPr marL="0" lvl="0" indent="0" rtl="0">
              <a:spcBef>
                <a:spcPts val="0"/>
              </a:spcBef>
              <a:spcAft>
                <a:spcPts val="0"/>
              </a:spcAft>
              <a:buNone/>
            </a:pPr>
            <a:r>
              <a:rPr lang="en-GB" sz="1100" b="1" dirty="0">
                <a:solidFill>
                  <a:srgbClr val="323D4F"/>
                </a:solidFill>
                <a:latin typeface="+mn-lt"/>
                <a:ea typeface="Roboto"/>
                <a:cs typeface="Roboto"/>
                <a:sym typeface="Roboto"/>
              </a:rPr>
              <a:t>Shift A &amp; B Consumption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p>
        </p:txBody>
      </p:sp>
      <p:sp>
        <p:nvSpPr>
          <p:cNvPr id="11" name="Google Shape;75;p15">
            <a:extLst>
              <a:ext uri="{FF2B5EF4-FFF2-40B4-BE49-F238E27FC236}">
                <a16:creationId xmlns:a16="http://schemas.microsoft.com/office/drawing/2014/main" id="{3824414B-EB9E-5FF6-DF9D-8216413E20C1}"/>
              </a:ext>
            </a:extLst>
          </p:cNvPr>
          <p:cNvSpPr txBox="1"/>
          <p:nvPr/>
        </p:nvSpPr>
        <p:spPr>
          <a:xfrm>
            <a:off x="4614253" y="877504"/>
            <a:ext cx="1380549"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a:solidFill>
                  <a:srgbClr val="323D4F"/>
                </a:solidFill>
                <a:latin typeface="+mn-lt"/>
                <a:ea typeface="Roboto"/>
                <a:cs typeface="Roboto"/>
                <a:sym typeface="Roboto"/>
              </a:rPr>
              <a:t>Shift A &amp; B Cost</a:t>
            </a:r>
          </a:p>
        </p:txBody>
      </p:sp>
      <p:pic>
        <p:nvPicPr>
          <p:cNvPr id="12" name="Google Shape;304;p1">
            <a:extLst>
              <a:ext uri="{FF2B5EF4-FFF2-40B4-BE49-F238E27FC236}">
                <a16:creationId xmlns:a16="http://schemas.microsoft.com/office/drawing/2014/main" id="{4207EB94-F428-BDEE-4846-16CF8EAC0087}"/>
              </a:ext>
            </a:extLst>
          </p:cNvPr>
          <p:cNvPicPr preferRelativeResize="0"/>
          <p:nvPr/>
        </p:nvPicPr>
        <p:blipFill rotWithShape="1">
          <a:blip r:embed="rId4">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70FA7CA0-5BFD-EEF1-E4F3-17E1DAC54003}"/>
              </a:ext>
            </a:extLst>
          </p:cNvPr>
          <p:cNvSpPr>
            <a:spLocks noGrp="1"/>
          </p:cNvSpPr>
          <p:nvPr>
            <p:ph type="sldNum" idx="12"/>
          </p:nvPr>
        </p:nvSpPr>
        <p:spPr>
          <a:xfrm>
            <a:off x="7621223" y="4712085"/>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7</a:t>
            </a:fld>
            <a:endParaRPr lang="en-GB" dirty="0">
              <a:solidFill>
                <a:schemeClr val="bg1"/>
              </a:solidFill>
            </a:endParaRPr>
          </a:p>
        </p:txBody>
      </p:sp>
      <p:sp>
        <p:nvSpPr>
          <p:cNvPr id="15" name="Rectangle: Rounded Corners 4">
            <a:extLst>
              <a:ext uri="{FF2B5EF4-FFF2-40B4-BE49-F238E27FC236}">
                <a16:creationId xmlns:a16="http://schemas.microsoft.com/office/drawing/2014/main" id="{918A6599-6289-5D0F-8D89-E0BEDB702B6E}"/>
              </a:ext>
            </a:extLst>
          </p:cNvPr>
          <p:cNvSpPr/>
          <p:nvPr/>
        </p:nvSpPr>
        <p:spPr>
          <a:xfrm>
            <a:off x="223597" y="2538870"/>
            <a:ext cx="6392356" cy="2353285"/>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18" name="Google Shape;75;p15">
            <a:extLst>
              <a:ext uri="{FF2B5EF4-FFF2-40B4-BE49-F238E27FC236}">
                <a16:creationId xmlns:a16="http://schemas.microsoft.com/office/drawing/2014/main" id="{DF63F885-A6ED-7948-253E-DF438CCB4D72}"/>
              </a:ext>
            </a:extLst>
          </p:cNvPr>
          <p:cNvSpPr txBox="1"/>
          <p:nvPr/>
        </p:nvSpPr>
        <p:spPr>
          <a:xfrm>
            <a:off x="508425" y="2644188"/>
            <a:ext cx="3575886" cy="169277"/>
          </a:xfrm>
          <a:prstGeom prst="rect">
            <a:avLst/>
          </a:prstGeom>
          <a:noFill/>
          <a:ln>
            <a:noFill/>
          </a:ln>
        </p:spPr>
        <p:txBody>
          <a:bodyPr spcFirstLastPara="1" wrap="square" lIns="0" tIns="0" rIns="0" bIns="0" anchor="t" anchorCtr="0">
            <a:spAutoFit/>
          </a:bodyPr>
          <a:lstStyle/>
          <a:p>
            <a:pPr lvl="0"/>
            <a:r>
              <a:rPr lang="en-GB" sz="1100" b="1" dirty="0">
                <a:solidFill>
                  <a:srgbClr val="323D4F"/>
                </a:solidFill>
                <a:latin typeface="+mn-lt"/>
                <a:ea typeface="Roboto"/>
                <a:cs typeface="Roboto"/>
                <a:sym typeface="Roboto"/>
              </a:rPr>
              <a:t>Shift-wise Cost Comparison for the entire month (</a:t>
            </a:r>
            <a:r>
              <a:rPr lang="en-IN" sz="1100" b="1" dirty="0">
                <a:solidFill>
                  <a:srgbClr val="323D4F"/>
                </a:solidFill>
                <a:latin typeface="+mn-lt"/>
                <a:ea typeface="Roboto"/>
                <a:cs typeface="Roboto"/>
              </a:rPr>
              <a:t> ₹)</a:t>
            </a:r>
            <a:endParaRPr lang="en-GB" sz="1100" b="1" dirty="0">
              <a:solidFill>
                <a:srgbClr val="323D4F"/>
              </a:solidFill>
              <a:latin typeface="+mn-lt"/>
              <a:ea typeface="Roboto"/>
              <a:cs typeface="Roboto"/>
              <a:sym typeface="Roboto"/>
            </a:endParaRPr>
          </a:p>
        </p:txBody>
      </p:sp>
      <p:sp>
        <p:nvSpPr>
          <p:cNvPr id="16" name="TextBox 15">
            <a:extLst>
              <a:ext uri="{FF2B5EF4-FFF2-40B4-BE49-F238E27FC236}">
                <a16:creationId xmlns:a16="http://schemas.microsoft.com/office/drawing/2014/main" id="{F1AEB4F9-FDE4-77E6-B1ED-A4D778230D1A}"/>
              </a:ext>
            </a:extLst>
          </p:cNvPr>
          <p:cNvSpPr txBox="1"/>
          <p:nvPr/>
        </p:nvSpPr>
        <p:spPr>
          <a:xfrm>
            <a:off x="5311716" y="4584377"/>
            <a:ext cx="1266092" cy="307777"/>
          </a:xfrm>
          <a:prstGeom prst="rect">
            <a:avLst/>
          </a:prstGeom>
          <a:noFill/>
        </p:spPr>
        <p:txBody>
          <a:bodyPr wrap="square" rtlCol="0">
            <a:spAutoFit/>
          </a:bodyPr>
          <a:lstStyle/>
          <a:p>
            <a:r>
              <a:rPr lang="en-US" sz="700">
                <a:solidFill>
                  <a:schemeClr val="bg1">
                    <a:lumMod val="50000"/>
                  </a:schemeClr>
                </a:solidFill>
              </a:rPr>
              <a:t>*excluding Plating &amp; </a:t>
            </a:r>
          </a:p>
          <a:p>
            <a:r>
              <a:rPr lang="en-US" sz="700">
                <a:solidFill>
                  <a:schemeClr val="bg1">
                    <a:lumMod val="50000"/>
                  </a:schemeClr>
                </a:solidFill>
              </a:rPr>
              <a:t>Die Casting Zones</a:t>
            </a:r>
          </a:p>
        </p:txBody>
      </p:sp>
      <p:sp>
        <p:nvSpPr>
          <p:cNvPr id="17" name="TextBox 16">
            <a:extLst>
              <a:ext uri="{FF2B5EF4-FFF2-40B4-BE49-F238E27FC236}">
                <a16:creationId xmlns:a16="http://schemas.microsoft.com/office/drawing/2014/main" id="{7581A3CD-507F-D7A9-8720-CD433F569718}"/>
              </a:ext>
            </a:extLst>
          </p:cNvPr>
          <p:cNvSpPr txBox="1"/>
          <p:nvPr/>
        </p:nvSpPr>
        <p:spPr>
          <a:xfrm>
            <a:off x="416706" y="1775349"/>
            <a:ext cx="986013" cy="307777"/>
          </a:xfrm>
          <a:prstGeom prst="rect">
            <a:avLst/>
          </a:prstGeom>
          <a:noFill/>
        </p:spPr>
        <p:txBody>
          <a:bodyPr wrap="square" rtlCol="0">
            <a:spAutoFit/>
          </a:bodyPr>
          <a:lstStyle/>
          <a:p>
            <a:r>
              <a:rPr lang="en-US" sz="700"/>
              <a:t>9:30 AM –</a:t>
            </a:r>
          </a:p>
          <a:p>
            <a:r>
              <a:rPr lang="en-US" sz="700"/>
              <a:t>8:00 PM</a:t>
            </a:r>
          </a:p>
        </p:txBody>
      </p:sp>
      <p:sp>
        <p:nvSpPr>
          <p:cNvPr id="19" name="TextBox 18">
            <a:extLst>
              <a:ext uri="{FF2B5EF4-FFF2-40B4-BE49-F238E27FC236}">
                <a16:creationId xmlns:a16="http://schemas.microsoft.com/office/drawing/2014/main" id="{75772E5F-930D-81EC-C879-DB86EB9ED8CA}"/>
              </a:ext>
            </a:extLst>
          </p:cNvPr>
          <p:cNvSpPr txBox="1"/>
          <p:nvPr/>
        </p:nvSpPr>
        <p:spPr>
          <a:xfrm>
            <a:off x="429603" y="1302354"/>
            <a:ext cx="986013" cy="307777"/>
          </a:xfrm>
          <a:prstGeom prst="rect">
            <a:avLst/>
          </a:prstGeom>
          <a:noFill/>
        </p:spPr>
        <p:txBody>
          <a:bodyPr wrap="square" rtlCol="0">
            <a:spAutoFit/>
          </a:bodyPr>
          <a:lstStyle/>
          <a:p>
            <a:r>
              <a:rPr lang="en-US" sz="700"/>
              <a:t>8:00 PM –</a:t>
            </a:r>
          </a:p>
          <a:p>
            <a:r>
              <a:rPr lang="en-US" sz="700"/>
              <a:t>6:00 AM</a:t>
            </a:r>
          </a:p>
        </p:txBody>
      </p:sp>
      <p:sp>
        <p:nvSpPr>
          <p:cNvPr id="20" name="TextBox 19">
            <a:extLst>
              <a:ext uri="{FF2B5EF4-FFF2-40B4-BE49-F238E27FC236}">
                <a16:creationId xmlns:a16="http://schemas.microsoft.com/office/drawing/2014/main" id="{62C88E7F-10BA-1B2A-1981-7C341B560019}"/>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13" name="Chart 12">
            <a:extLst>
              <a:ext uri="{FF2B5EF4-FFF2-40B4-BE49-F238E27FC236}">
                <a16:creationId xmlns:a16="http://schemas.microsoft.com/office/drawing/2014/main" id="{26233489-F690-71D9-5B4F-7A8867D59EA6}"/>
              </a:ext>
            </a:extLst>
          </p:cNvPr>
          <p:cNvGraphicFramePr>
            <a:graphicFrameLocks/>
          </p:cNvGraphicFramePr>
          <p:nvPr>
            <p:extLst>
              <p:ext uri="{D42A27DB-BD31-4B8C-83A1-F6EECF244321}">
                <p14:modId xmlns:p14="http://schemas.microsoft.com/office/powerpoint/2010/main" val="1807817961"/>
              </p:ext>
            </p:extLst>
          </p:nvPr>
        </p:nvGraphicFramePr>
        <p:xfrm>
          <a:off x="433137" y="875298"/>
          <a:ext cx="3308684" cy="138663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 name="Chart 20">
            <a:extLst>
              <a:ext uri="{FF2B5EF4-FFF2-40B4-BE49-F238E27FC236}">
                <a16:creationId xmlns:a16="http://schemas.microsoft.com/office/drawing/2014/main" id="{EF2B6BC3-67CE-BC60-8E4E-6DA0BB141DE2}"/>
              </a:ext>
            </a:extLst>
          </p:cNvPr>
          <p:cNvGraphicFramePr>
            <a:graphicFrameLocks/>
          </p:cNvGraphicFramePr>
          <p:nvPr>
            <p:extLst>
              <p:ext uri="{D42A27DB-BD31-4B8C-83A1-F6EECF244321}">
                <p14:modId xmlns:p14="http://schemas.microsoft.com/office/powerpoint/2010/main" val="2745283297"/>
              </p:ext>
            </p:extLst>
          </p:nvPr>
        </p:nvGraphicFramePr>
        <p:xfrm>
          <a:off x="3359806" y="634666"/>
          <a:ext cx="3714761" cy="179571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5" name="Chart 24">
            <a:extLst>
              <a:ext uri="{FF2B5EF4-FFF2-40B4-BE49-F238E27FC236}">
                <a16:creationId xmlns:a16="http://schemas.microsoft.com/office/drawing/2014/main" id="{0305469F-4AC9-492B-8150-387A8EA79A62}"/>
              </a:ext>
            </a:extLst>
          </p:cNvPr>
          <p:cNvGraphicFramePr>
            <a:graphicFrameLocks/>
          </p:cNvGraphicFramePr>
          <p:nvPr>
            <p:extLst>
              <p:ext uri="{D42A27DB-BD31-4B8C-83A1-F6EECF244321}">
                <p14:modId xmlns:p14="http://schemas.microsoft.com/office/powerpoint/2010/main" val="390311824"/>
              </p:ext>
            </p:extLst>
          </p:nvPr>
        </p:nvGraphicFramePr>
        <p:xfrm>
          <a:off x="429746" y="2862033"/>
          <a:ext cx="5995117" cy="204685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6" name="Chart 25"/>
          <p:cNvGraphicFramePr>
            <a:graphicFrameLocks noGrp="1"/>
          </p:cNvGraphicFramePr>
          <p:nvPr/>
        </p:nvGraphicFramePr>
        <p:xfrm>
          <a:off x="3669899" y="999745"/>
          <a:ext cx="3271354" cy="1476348"/>
        </p:xfrm>
        <a:graphic>
          <a:graphicData uri="http://schemas.openxmlformats.org/drawingml/2006/chart">
            <c:chart xmlns:c="http://schemas.openxmlformats.org/drawingml/2006/chart" r:id="rId8"/>
          </a:graphicData>
        </a:graphic>
      </p:graphicFrame>
    </p:spTree>
    <p:extLst>
      <p:ext uri="{BB962C8B-B14F-4D97-AF65-F5344CB8AC3E}">
        <p14:creationId xmlns:p14="http://schemas.microsoft.com/office/powerpoint/2010/main" val="2321554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FF6AA3C-B04F-0F0A-06DD-0C107C9D4354}"/>
            </a:ext>
          </a:extLst>
        </p:cNvPr>
        <p:cNvGrpSpPr/>
        <p:nvPr/>
      </p:nvGrpSpPr>
      <p:grpSpPr>
        <a:xfrm>
          <a:off x="0" y="0"/>
          <a:ext cx="0" cy="0"/>
          <a:chOff x="0" y="0"/>
          <a:chExt cx="0" cy="0"/>
        </a:xfrm>
      </p:grpSpPr>
      <p:sp>
        <p:nvSpPr>
          <p:cNvPr id="4" name="Google Shape;75;p15">
            <a:extLst>
              <a:ext uri="{FF2B5EF4-FFF2-40B4-BE49-F238E27FC236}">
                <a16:creationId xmlns:a16="http://schemas.microsoft.com/office/drawing/2014/main" id="{F29FEBB0-6688-C06D-6217-B02DD92F8554}"/>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rtl="0">
              <a:defRPr sz="1400" b="1" i="0">
                <a:solidFill>
                  <a:sysClr val="windowText" lastClr="000000"/>
                </a:solidFill>
                <a:latin typeface="Aptos Narrow" panose="020B0004020202020204" pitchFamily="34" charset="0"/>
                <a:ea typeface="Aptos Narrow" panose="020B0004020202020204" pitchFamily="34" charset="0"/>
                <a:cs typeface="Aptos Narrow" panose="020B0004020202020204" pitchFamily="34" charset="0"/>
              </a:defRPr>
            </a:pPr>
            <a:r>
              <a:rPr lang="en-IN" sz="1800" b="1" dirty="0">
                <a:solidFill>
                  <a:sysClr val="windowText" lastClr="000000"/>
                </a:solidFill>
              </a:rPr>
              <a:t>Average Hourly Consumption</a:t>
            </a:r>
          </a:p>
        </p:txBody>
      </p:sp>
      <p:sp>
        <p:nvSpPr>
          <p:cNvPr id="3" name="Google Shape;72;p15">
            <a:extLst>
              <a:ext uri="{FF2B5EF4-FFF2-40B4-BE49-F238E27FC236}">
                <a16:creationId xmlns:a16="http://schemas.microsoft.com/office/drawing/2014/main" id="{E22F6019-43C5-CF6A-9362-99B6D0628243}"/>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AC5152A4-87C0-844A-3A1F-DBE9402BE40C}"/>
              </a:ext>
            </a:extLst>
          </p:cNvPr>
          <p:cNvSpPr txBox="1"/>
          <p:nvPr/>
        </p:nvSpPr>
        <p:spPr>
          <a:xfrm>
            <a:off x="6960481" y="1016625"/>
            <a:ext cx="1829100" cy="209285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Peak consumption hour: 11:00 (393.5 kVAh)</a:t>
            </a:r>
          </a:p>
          <a:p>
            <a:r>
              <a:rPr sz="1200" dirty="0">
                <a:solidFill>
                  <a:srgbClr val="FFFFFF"/>
                </a:solidFill>
                <a:latin typeface="Calibri"/>
              </a:rPr>
              <a:t>• Lowest consumption hour: 07:00 (109.7 kVAh)</a:t>
            </a:r>
          </a:p>
          <a:p>
            <a:r>
              <a:rPr sz="1200" dirty="0">
                <a:solidFill>
                  <a:srgbClr val="FFFFFF"/>
                </a:solidFill>
                <a:latin typeface="Calibri"/>
              </a:rPr>
              <a:t>• Average daily consumption: 6952.7 kVAh</a:t>
            </a:r>
          </a:p>
          <a:p>
            <a:endParaRPr sz="1200" dirty="0">
              <a:solidFill>
                <a:srgbClr val="FFFFFF"/>
              </a:solidFill>
              <a:latin typeface="Calibri"/>
            </a:endParaRPr>
          </a:p>
        </p:txBody>
      </p:sp>
      <p:pic>
        <p:nvPicPr>
          <p:cNvPr id="12" name="Google Shape;304;p1">
            <a:extLst>
              <a:ext uri="{FF2B5EF4-FFF2-40B4-BE49-F238E27FC236}">
                <a16:creationId xmlns:a16="http://schemas.microsoft.com/office/drawing/2014/main" id="{2D745E41-396A-15FF-EC3E-4FF29E08C96C}"/>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22A6D606-5B88-FBDD-4A9B-D6E16D1CA38E}"/>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8</a:t>
            </a:fld>
            <a:endParaRPr lang="en-GB" dirty="0">
              <a:solidFill>
                <a:schemeClr val="bg1"/>
              </a:solidFill>
            </a:endParaRPr>
          </a:p>
        </p:txBody>
      </p:sp>
      <p:sp>
        <p:nvSpPr>
          <p:cNvPr id="15" name="Rectangle: Rounded Corners 4">
            <a:extLst>
              <a:ext uri="{FF2B5EF4-FFF2-40B4-BE49-F238E27FC236}">
                <a16:creationId xmlns:a16="http://schemas.microsoft.com/office/drawing/2014/main" id="{FD492525-2A3B-FA68-5474-C8D97BAE1A2C}"/>
              </a:ext>
            </a:extLst>
          </p:cNvPr>
          <p:cNvSpPr/>
          <p:nvPr/>
        </p:nvSpPr>
        <p:spPr>
          <a:xfrm>
            <a:off x="433137" y="685800"/>
            <a:ext cx="6182815" cy="4206356"/>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dirty="0">
              <a:solidFill>
                <a:srgbClr val="000000"/>
              </a:solidFill>
              <a:latin typeface="+mn-lt"/>
              <a:ea typeface="Roboto"/>
              <a:cs typeface="Roboto"/>
            </a:endParaRPr>
          </a:p>
        </p:txBody>
      </p:sp>
      <p:sp>
        <p:nvSpPr>
          <p:cNvPr id="20" name="TextBox 19">
            <a:extLst>
              <a:ext uri="{FF2B5EF4-FFF2-40B4-BE49-F238E27FC236}">
                <a16:creationId xmlns:a16="http://schemas.microsoft.com/office/drawing/2014/main" id="{66B311A4-A09C-1D15-95A5-C1A242C0F07B}"/>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21" name="Chart 20"/>
          <p:cNvGraphicFramePr>
            <a:graphicFrameLocks noGrp="1"/>
          </p:cNvGraphicFramePr>
          <p:nvPr>
            <p:extLst>
              <p:ext uri="{D42A27DB-BD31-4B8C-83A1-F6EECF244321}">
                <p14:modId xmlns:p14="http://schemas.microsoft.com/office/powerpoint/2010/main" val="3617646546"/>
              </p:ext>
            </p:extLst>
          </p:nvPr>
        </p:nvGraphicFramePr>
        <p:xfrm>
          <a:off x="302336" y="802469"/>
          <a:ext cx="6313615" cy="415178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73204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0F9CA8C8-11E7-F66A-2BCC-D8A3490C4FF3}"/>
            </a:ext>
          </a:extLst>
        </p:cNvPr>
        <p:cNvGrpSpPr/>
        <p:nvPr/>
      </p:nvGrpSpPr>
      <p:grpSpPr>
        <a:xfrm>
          <a:off x="0" y="0"/>
          <a:ext cx="0" cy="0"/>
          <a:chOff x="0" y="0"/>
          <a:chExt cx="0" cy="0"/>
        </a:xfrm>
      </p:grpSpPr>
      <p:sp>
        <p:nvSpPr>
          <p:cNvPr id="4" name="Google Shape;75;p15">
            <a:extLst>
              <a:ext uri="{FF2B5EF4-FFF2-40B4-BE49-F238E27FC236}">
                <a16:creationId xmlns:a16="http://schemas.microsoft.com/office/drawing/2014/main" id="{DE430757-0A66-E5A0-FB9E-B1365175C4E9}"/>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rtl="0">
              <a:defRPr sz="1400" b="1" i="0">
                <a:solidFill>
                  <a:sysClr val="windowText" lastClr="000000"/>
                </a:solidFill>
                <a:latin typeface="Aptos Narrow" panose="020B0004020202020204" pitchFamily="34" charset="0"/>
                <a:ea typeface="Aptos Narrow" panose="020B0004020202020204" pitchFamily="34" charset="0"/>
                <a:cs typeface="Aptos Narrow" panose="020B0004020202020204" pitchFamily="34" charset="0"/>
              </a:defRPr>
            </a:pPr>
            <a:r>
              <a:rPr lang="en-IN" sz="1800" b="1" dirty="0">
                <a:solidFill>
                  <a:sysClr val="windowText" lastClr="000000"/>
                </a:solidFill>
              </a:rPr>
              <a:t>Average Zone - Hourly Consumption</a:t>
            </a:r>
          </a:p>
        </p:txBody>
      </p:sp>
      <p:sp>
        <p:nvSpPr>
          <p:cNvPr id="3" name="Google Shape;72;p15">
            <a:extLst>
              <a:ext uri="{FF2B5EF4-FFF2-40B4-BE49-F238E27FC236}">
                <a16:creationId xmlns:a16="http://schemas.microsoft.com/office/drawing/2014/main" id="{A8836C47-455B-799D-4BD4-8B8C4007C633}"/>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251A6C63-E4F3-D969-A461-04A6F8C65E37}"/>
              </a:ext>
            </a:extLst>
          </p:cNvPr>
          <p:cNvSpPr txBox="1"/>
          <p:nvPr/>
        </p:nvSpPr>
        <p:spPr>
          <a:xfrm>
            <a:off x="6960481" y="1016625"/>
            <a:ext cx="1829100" cy="317006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dirty="0">
              <a:solidFill>
                <a:schemeClr val="bg1"/>
              </a:solidFill>
              <a:latin typeface="+mn-lt"/>
              <a:ea typeface="Roboto"/>
              <a:cs typeface="Roboto"/>
              <a:sym typeface="Roboto"/>
            </a:endParaRPr>
          </a:p>
          <a:p>
            <a:r>
              <a:rPr sz="1200" dirty="0">
                <a:solidFill>
                  <a:srgbClr val="FFFFFF"/>
                </a:solidFill>
                <a:latin typeface="Calibri"/>
              </a:rPr>
              <a:t>• Facility peak consumption: </a:t>
            </a:r>
            <a:r>
              <a:rPr lang="en-US" sz="1200" dirty="0" smtClean="0">
                <a:solidFill>
                  <a:srgbClr val="FFFFFF"/>
                </a:solidFill>
                <a:latin typeface="Calibri"/>
              </a:rPr>
              <a:t>11</a:t>
            </a:r>
            <a:r>
              <a:rPr lang="en-US" sz="1200" dirty="0" smtClean="0">
                <a:solidFill>
                  <a:srgbClr val="FFFFFF"/>
                </a:solidFill>
                <a:latin typeface="Calibri"/>
              </a:rPr>
              <a:t>:00</a:t>
            </a:r>
            <a:r>
              <a:rPr sz="1200" dirty="0" smtClean="0">
                <a:solidFill>
                  <a:srgbClr val="FFFFFF"/>
                </a:solidFill>
                <a:latin typeface="Calibri"/>
              </a:rPr>
              <a:t> </a:t>
            </a:r>
            <a:r>
              <a:rPr sz="1200" dirty="0" err="1">
                <a:solidFill>
                  <a:srgbClr val="FFFFFF"/>
                </a:solidFill>
                <a:latin typeface="Calibri"/>
              </a:rPr>
              <a:t>hrs</a:t>
            </a:r>
            <a:r>
              <a:rPr sz="1200" dirty="0">
                <a:solidFill>
                  <a:srgbClr val="FFFFFF"/>
                </a:solidFill>
                <a:latin typeface="Calibri"/>
              </a:rPr>
              <a:t> </a:t>
            </a:r>
            <a:r>
              <a:rPr sz="1200" dirty="0" smtClean="0">
                <a:solidFill>
                  <a:srgbClr val="FFFFFF"/>
                </a:solidFill>
                <a:latin typeface="Calibri"/>
              </a:rPr>
              <a:t>(431.3 </a:t>
            </a:r>
            <a:r>
              <a:rPr sz="1200" dirty="0">
                <a:solidFill>
                  <a:srgbClr val="FFFFFF"/>
                </a:solidFill>
                <a:latin typeface="Calibri"/>
              </a:rPr>
              <a:t>kVAh)</a:t>
            </a:r>
          </a:p>
          <a:p>
            <a:r>
              <a:rPr sz="1200" dirty="0">
                <a:solidFill>
                  <a:srgbClr val="FFFFFF"/>
                </a:solidFill>
                <a:latin typeface="Calibri"/>
              </a:rPr>
              <a:t>• Minimum consumption period: </a:t>
            </a:r>
            <a:r>
              <a:rPr sz="1200" dirty="0" smtClean="0">
                <a:solidFill>
                  <a:srgbClr val="FFFFFF"/>
                </a:solidFill>
                <a:latin typeface="Calibri"/>
              </a:rPr>
              <a:t>07:00 </a:t>
            </a:r>
            <a:r>
              <a:rPr sz="1200" dirty="0" err="1">
                <a:solidFill>
                  <a:srgbClr val="FFFFFF"/>
                </a:solidFill>
                <a:latin typeface="Calibri"/>
              </a:rPr>
              <a:t>hrs</a:t>
            </a:r>
            <a:r>
              <a:rPr sz="1200" dirty="0">
                <a:solidFill>
                  <a:srgbClr val="FFFFFF"/>
                </a:solidFill>
                <a:latin typeface="Calibri"/>
              </a:rPr>
              <a:t> </a:t>
            </a:r>
            <a:r>
              <a:rPr sz="1200" dirty="0" smtClean="0">
                <a:solidFill>
                  <a:srgbClr val="FFFFFF"/>
                </a:solidFill>
                <a:latin typeface="Calibri"/>
              </a:rPr>
              <a:t>(118.1 </a:t>
            </a:r>
            <a:r>
              <a:rPr sz="1200" dirty="0">
                <a:solidFill>
                  <a:srgbClr val="FFFFFF"/>
                </a:solidFill>
                <a:latin typeface="Calibri"/>
              </a:rPr>
              <a:t>kVAh)</a:t>
            </a:r>
          </a:p>
          <a:p>
            <a:r>
              <a:rPr sz="1200" dirty="0">
                <a:solidFill>
                  <a:srgbClr val="FFFFFF"/>
                </a:solidFill>
                <a:latin typeface="Calibri"/>
              </a:rPr>
              <a:t>• Highest consuming zone: </a:t>
            </a:r>
            <a:r>
              <a:rPr sz="1200" dirty="0" smtClean="0">
                <a:solidFill>
                  <a:srgbClr val="FFFFFF"/>
                </a:solidFill>
                <a:latin typeface="Calibri"/>
              </a:rPr>
              <a:t>PLATING (C-49) (3033.9 </a:t>
            </a:r>
            <a:r>
              <a:rPr sz="1200" dirty="0">
                <a:solidFill>
                  <a:srgbClr val="FFFFFF"/>
                </a:solidFill>
                <a:latin typeface="Calibri"/>
              </a:rPr>
              <a:t>kVAh/day)</a:t>
            </a:r>
          </a:p>
          <a:p>
            <a:r>
              <a:rPr sz="1200" dirty="0">
                <a:solidFill>
                  <a:srgbClr val="FFFFFF"/>
                </a:solidFill>
                <a:latin typeface="Calibri"/>
              </a:rPr>
              <a:t>• Most efficient zone: TOOL ROOM (C-50) (59.9 kVAh/day)</a:t>
            </a:r>
          </a:p>
          <a:p>
            <a:r>
              <a:rPr sz="1200" dirty="0">
                <a:solidFill>
                  <a:srgbClr val="FFFFFF"/>
                </a:solidFill>
                <a:latin typeface="Calibri"/>
              </a:rPr>
              <a:t>• Total facility consumption: 7964.1 kVAh/day average</a:t>
            </a:r>
          </a:p>
        </p:txBody>
      </p:sp>
      <p:pic>
        <p:nvPicPr>
          <p:cNvPr id="12" name="Google Shape;304;p1">
            <a:extLst>
              <a:ext uri="{FF2B5EF4-FFF2-40B4-BE49-F238E27FC236}">
                <a16:creationId xmlns:a16="http://schemas.microsoft.com/office/drawing/2014/main" id="{9C3619B1-6F00-0797-9C5E-9EC1BAD5B8B7}"/>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9A8EDB42-D670-9E92-0B4C-D0156000CF8D}"/>
              </a:ext>
            </a:extLst>
          </p:cNvPr>
          <p:cNvSpPr>
            <a:spLocks noGrp="1"/>
          </p:cNvSpPr>
          <p:nvPr>
            <p:ph type="sldNum" idx="12"/>
          </p:nvPr>
        </p:nvSpPr>
        <p:spPr>
          <a:xfrm>
            <a:off x="7600679" y="4743421"/>
            <a:ext cx="548700" cy="400079"/>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9</a:t>
            </a:fld>
            <a:endParaRPr lang="en-GB" dirty="0">
              <a:solidFill>
                <a:schemeClr val="bg1"/>
              </a:solidFill>
            </a:endParaRPr>
          </a:p>
        </p:txBody>
      </p:sp>
      <p:sp>
        <p:nvSpPr>
          <p:cNvPr id="15" name="Rectangle: Rounded Corners 4">
            <a:extLst>
              <a:ext uri="{FF2B5EF4-FFF2-40B4-BE49-F238E27FC236}">
                <a16:creationId xmlns:a16="http://schemas.microsoft.com/office/drawing/2014/main" id="{68887576-CED9-9E2C-D02D-3E68B9CD654E}"/>
              </a:ext>
            </a:extLst>
          </p:cNvPr>
          <p:cNvSpPr/>
          <p:nvPr/>
        </p:nvSpPr>
        <p:spPr>
          <a:xfrm>
            <a:off x="354419" y="685800"/>
            <a:ext cx="6261534" cy="4206356"/>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20" name="TextBox 19">
            <a:extLst>
              <a:ext uri="{FF2B5EF4-FFF2-40B4-BE49-F238E27FC236}">
                <a16:creationId xmlns:a16="http://schemas.microsoft.com/office/drawing/2014/main" id="{C49FC398-0120-C2A0-82C1-5557FC55BABC}"/>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2" name="Chart 1">
            <a:extLst>
              <a:ext uri="{FF2B5EF4-FFF2-40B4-BE49-F238E27FC236}">
                <a16:creationId xmlns:a16="http://schemas.microsoft.com/office/drawing/2014/main" id="{1634DB2B-CE7F-D885-572F-625DAA455DEF}"/>
              </a:ext>
            </a:extLst>
          </p:cNvPr>
          <p:cNvGraphicFramePr>
            <a:graphicFrameLocks/>
          </p:cNvGraphicFramePr>
          <p:nvPr>
            <p:extLst>
              <p:ext uri="{D42A27DB-BD31-4B8C-83A1-F6EECF244321}">
                <p14:modId xmlns:p14="http://schemas.microsoft.com/office/powerpoint/2010/main" val="2092969656"/>
              </p:ext>
            </p:extLst>
          </p:nvPr>
        </p:nvGraphicFramePr>
        <p:xfrm>
          <a:off x="440656" y="844842"/>
          <a:ext cx="6035300" cy="429865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43318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BF7E1-463D-E8C3-5E84-124B109AD780}"/>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1D9A709E-10EF-B90B-3ED0-EB476111A68B}"/>
              </a:ext>
            </a:extLst>
          </p:cNvPr>
          <p:cNvGrpSpPr/>
          <p:nvPr/>
        </p:nvGrpSpPr>
        <p:grpSpPr>
          <a:xfrm>
            <a:off x="0" y="1395613"/>
            <a:ext cx="9144000" cy="3290625"/>
            <a:chOff x="0" y="2594205"/>
            <a:chExt cx="18288000" cy="6569371"/>
          </a:xfrm>
        </p:grpSpPr>
        <p:grpSp>
          <p:nvGrpSpPr>
            <p:cNvPr id="2" name="Group 6">
              <a:extLst>
                <a:ext uri="{FF2B5EF4-FFF2-40B4-BE49-F238E27FC236}">
                  <a16:creationId xmlns:a16="http://schemas.microsoft.com/office/drawing/2014/main" id="{45FA4EFF-4030-61AF-B826-CCEA8DC95084}"/>
                </a:ext>
              </a:extLst>
            </p:cNvPr>
            <p:cNvGrpSpPr/>
            <p:nvPr/>
          </p:nvGrpSpPr>
          <p:grpSpPr>
            <a:xfrm>
              <a:off x="0" y="2594205"/>
              <a:ext cx="18288000" cy="5098590"/>
              <a:chOff x="0" y="0"/>
              <a:chExt cx="4816593" cy="1342839"/>
            </a:xfrm>
            <a:solidFill>
              <a:srgbClr val="6CAB98"/>
            </a:solidFill>
          </p:grpSpPr>
          <p:sp>
            <p:nvSpPr>
              <p:cNvPr id="3" name="Freeform 7">
                <a:extLst>
                  <a:ext uri="{FF2B5EF4-FFF2-40B4-BE49-F238E27FC236}">
                    <a16:creationId xmlns:a16="http://schemas.microsoft.com/office/drawing/2014/main" id="{1A86395C-DDB2-2504-5CDA-298AD7F8FE34}"/>
                  </a:ext>
                </a:extLst>
              </p:cNvPr>
              <p:cNvSpPr/>
              <p:nvPr/>
            </p:nvSpPr>
            <p:spPr>
              <a:xfrm>
                <a:off x="0" y="0"/>
                <a:ext cx="4816592" cy="1342839"/>
              </a:xfrm>
              <a:custGeom>
                <a:avLst/>
                <a:gdLst/>
                <a:ahLst/>
                <a:cxnLst/>
                <a:rect l="l" t="t" r="r" b="b"/>
                <a:pathLst>
                  <a:path w="4816592" h="1342839">
                    <a:moveTo>
                      <a:pt x="0" y="0"/>
                    </a:moveTo>
                    <a:lnTo>
                      <a:pt x="4816592" y="0"/>
                    </a:lnTo>
                    <a:lnTo>
                      <a:pt x="4816592" y="1342839"/>
                    </a:lnTo>
                    <a:lnTo>
                      <a:pt x="0" y="1342839"/>
                    </a:lnTo>
                    <a:close/>
                  </a:path>
                </a:pathLst>
              </a:custGeom>
              <a:grpFill/>
            </p:spPr>
            <p:txBody>
              <a:bodyPr/>
              <a:lstStyle/>
              <a:p>
                <a:endParaRPr lang="en-US"/>
              </a:p>
            </p:txBody>
          </p:sp>
          <p:sp>
            <p:nvSpPr>
              <p:cNvPr id="4" name="TextBox 8">
                <a:extLst>
                  <a:ext uri="{FF2B5EF4-FFF2-40B4-BE49-F238E27FC236}">
                    <a16:creationId xmlns:a16="http://schemas.microsoft.com/office/drawing/2014/main" id="{69A62285-0EBA-3FEE-2B31-D14D5E2D1511}"/>
                  </a:ext>
                </a:extLst>
              </p:cNvPr>
              <p:cNvSpPr txBox="1"/>
              <p:nvPr/>
            </p:nvSpPr>
            <p:spPr>
              <a:xfrm>
                <a:off x="0" y="-38100"/>
                <a:ext cx="4816593" cy="1380939"/>
              </a:xfrm>
              <a:prstGeom prst="rect">
                <a:avLst/>
              </a:prstGeom>
              <a:solidFill>
                <a:srgbClr val="388076"/>
              </a:solidFill>
            </p:spPr>
            <p:txBody>
              <a:bodyPr lIns="50800" tIns="50800" rIns="50800" bIns="50800" rtlCol="0" anchor="ctr"/>
              <a:lstStyle/>
              <a:p>
                <a:pPr algn="ctr">
                  <a:lnSpc>
                    <a:spcPts val="2659"/>
                  </a:lnSpc>
                  <a:spcBef>
                    <a:spcPct val="0"/>
                  </a:spcBef>
                </a:pPr>
                <a:endParaRPr/>
              </a:p>
            </p:txBody>
          </p:sp>
        </p:grpSp>
        <p:grpSp>
          <p:nvGrpSpPr>
            <p:cNvPr id="5" name="Group 9">
              <a:extLst>
                <a:ext uri="{FF2B5EF4-FFF2-40B4-BE49-F238E27FC236}">
                  <a16:creationId xmlns:a16="http://schemas.microsoft.com/office/drawing/2014/main" id="{DCA1282B-3A90-8FFB-E398-E3DAA9FFB444}"/>
                </a:ext>
              </a:extLst>
            </p:cNvPr>
            <p:cNvGrpSpPr/>
            <p:nvPr/>
          </p:nvGrpSpPr>
          <p:grpSpPr>
            <a:xfrm>
              <a:off x="1002680" y="8360235"/>
              <a:ext cx="3615998" cy="803341"/>
              <a:chOff x="0" y="-123917"/>
              <a:chExt cx="4821331" cy="1071121"/>
            </a:xfrm>
          </p:grpSpPr>
          <p:grpSp>
            <p:nvGrpSpPr>
              <p:cNvPr id="6" name="Group 10">
                <a:extLst>
                  <a:ext uri="{FF2B5EF4-FFF2-40B4-BE49-F238E27FC236}">
                    <a16:creationId xmlns:a16="http://schemas.microsoft.com/office/drawing/2014/main" id="{9F6DA2E8-9D31-561C-A7A6-149E376A90F5}"/>
                  </a:ext>
                </a:extLst>
              </p:cNvPr>
              <p:cNvGrpSpPr/>
              <p:nvPr/>
            </p:nvGrpSpPr>
            <p:grpSpPr>
              <a:xfrm>
                <a:off x="0" y="0"/>
                <a:ext cx="947204" cy="947204"/>
                <a:chOff x="0" y="0"/>
                <a:chExt cx="187102" cy="187102"/>
              </a:xfrm>
            </p:grpSpPr>
            <p:sp>
              <p:nvSpPr>
                <p:cNvPr id="9" name="Freeform 11">
                  <a:extLst>
                    <a:ext uri="{FF2B5EF4-FFF2-40B4-BE49-F238E27FC236}">
                      <a16:creationId xmlns:a16="http://schemas.microsoft.com/office/drawing/2014/main" id="{9D8143E0-8F21-BF6B-A3A3-9DC89B8DAAC9}"/>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10" name="TextBox 12">
                  <a:extLst>
                    <a:ext uri="{FF2B5EF4-FFF2-40B4-BE49-F238E27FC236}">
                      <a16:creationId xmlns:a16="http://schemas.microsoft.com/office/drawing/2014/main" id="{F4761AF6-870C-A0BC-E620-91B0B01CACFD}"/>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7" name="Freeform 13">
                <a:extLst>
                  <a:ext uri="{FF2B5EF4-FFF2-40B4-BE49-F238E27FC236}">
                    <a16:creationId xmlns:a16="http://schemas.microsoft.com/office/drawing/2014/main" id="{F893AC2D-5584-DAB0-FB11-05038F9E4CDA}"/>
                  </a:ext>
                </a:extLst>
              </p:cNvPr>
              <p:cNvSpPr/>
              <p:nvPr/>
            </p:nvSpPr>
            <p:spPr>
              <a:xfrm>
                <a:off x="212382" y="220456"/>
                <a:ext cx="522439" cy="506291"/>
              </a:xfrm>
              <a:custGeom>
                <a:avLst/>
                <a:gdLst/>
                <a:ahLst/>
                <a:cxnLst/>
                <a:rect l="l" t="t" r="r" b="b"/>
                <a:pathLst>
                  <a:path w="522439" h="506291">
                    <a:moveTo>
                      <a:pt x="0" y="0"/>
                    </a:moveTo>
                    <a:lnTo>
                      <a:pt x="522439" y="0"/>
                    </a:lnTo>
                    <a:lnTo>
                      <a:pt x="522439" y="506291"/>
                    </a:lnTo>
                    <a:lnTo>
                      <a:pt x="0" y="50629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8" name="TextBox 14">
                <a:extLst>
                  <a:ext uri="{FF2B5EF4-FFF2-40B4-BE49-F238E27FC236}">
                    <a16:creationId xmlns:a16="http://schemas.microsoft.com/office/drawing/2014/main" id="{401BD2B8-0DCA-D275-CCC7-253566FF44B3}"/>
                  </a:ext>
                </a:extLst>
              </p:cNvPr>
              <p:cNvSpPr txBox="1"/>
              <p:nvPr/>
            </p:nvSpPr>
            <p:spPr>
              <a:xfrm>
                <a:off x="1159587" y="-123917"/>
                <a:ext cx="3661744" cy="850661"/>
              </a:xfrm>
              <a:prstGeom prst="rect">
                <a:avLst/>
              </a:prstGeom>
            </p:spPr>
            <p:txBody>
              <a:bodyPr wrap="square" lIns="0" tIns="0" rIns="0" bIns="0" rtlCol="0" anchor="t">
                <a:spAutoFit/>
              </a:bodyPr>
              <a:lstStyle/>
              <a:p>
                <a:pPr algn="l">
                  <a:lnSpc>
                    <a:spcPts val="2940"/>
                  </a:lnSpc>
                  <a:spcBef>
                    <a:spcPct val="0"/>
                  </a:spcBef>
                </a:pPr>
                <a:r>
                  <a:rPr lang="en-US" sz="1200" b="1" dirty="0">
                    <a:solidFill>
                      <a:srgbClr val="000000"/>
                    </a:solidFill>
                    <a:latin typeface="Inter Medium"/>
                    <a:ea typeface="Inter Medium"/>
                    <a:cs typeface="Inter Medium"/>
                    <a:sym typeface="Inter Medium"/>
                  </a:rPr>
                  <a:t>+ 91 9916585292</a:t>
                </a:r>
              </a:p>
            </p:txBody>
          </p:sp>
        </p:grpSp>
        <p:grpSp>
          <p:nvGrpSpPr>
            <p:cNvPr id="11" name="Group 15">
              <a:extLst>
                <a:ext uri="{FF2B5EF4-FFF2-40B4-BE49-F238E27FC236}">
                  <a16:creationId xmlns:a16="http://schemas.microsoft.com/office/drawing/2014/main" id="{62B646CC-66E8-BBBF-97DE-B6ED391AFC09}"/>
                </a:ext>
              </a:extLst>
            </p:cNvPr>
            <p:cNvGrpSpPr/>
            <p:nvPr/>
          </p:nvGrpSpPr>
          <p:grpSpPr>
            <a:xfrm>
              <a:off x="5460380" y="8360237"/>
              <a:ext cx="5926032" cy="803339"/>
              <a:chOff x="0" y="-123915"/>
              <a:chExt cx="7901377" cy="1071119"/>
            </a:xfrm>
          </p:grpSpPr>
          <p:grpSp>
            <p:nvGrpSpPr>
              <p:cNvPr id="12" name="Group 16">
                <a:extLst>
                  <a:ext uri="{FF2B5EF4-FFF2-40B4-BE49-F238E27FC236}">
                    <a16:creationId xmlns:a16="http://schemas.microsoft.com/office/drawing/2014/main" id="{BD4BB1FC-9CCF-C9AB-396B-348D00D1E10C}"/>
                  </a:ext>
                </a:extLst>
              </p:cNvPr>
              <p:cNvGrpSpPr/>
              <p:nvPr/>
            </p:nvGrpSpPr>
            <p:grpSpPr>
              <a:xfrm>
                <a:off x="0" y="0"/>
                <a:ext cx="947204" cy="947204"/>
                <a:chOff x="0" y="0"/>
                <a:chExt cx="187102" cy="187102"/>
              </a:xfrm>
            </p:grpSpPr>
            <p:sp>
              <p:nvSpPr>
                <p:cNvPr id="15" name="Freeform 17">
                  <a:extLst>
                    <a:ext uri="{FF2B5EF4-FFF2-40B4-BE49-F238E27FC236}">
                      <a16:creationId xmlns:a16="http://schemas.microsoft.com/office/drawing/2014/main" id="{7B243E42-1B74-8493-BF24-56742CB11941}"/>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16" name="TextBox 18">
                  <a:extLst>
                    <a:ext uri="{FF2B5EF4-FFF2-40B4-BE49-F238E27FC236}">
                      <a16:creationId xmlns:a16="http://schemas.microsoft.com/office/drawing/2014/main" id="{9C2F458F-2ADD-CB80-E177-2A006E30E9F1}"/>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13" name="Freeform 19">
                <a:extLst>
                  <a:ext uri="{FF2B5EF4-FFF2-40B4-BE49-F238E27FC236}">
                    <a16:creationId xmlns:a16="http://schemas.microsoft.com/office/drawing/2014/main" id="{267DC594-F5E5-E283-9FC1-672715A3C8D6}"/>
                  </a:ext>
                </a:extLst>
              </p:cNvPr>
              <p:cNvSpPr/>
              <p:nvPr/>
            </p:nvSpPr>
            <p:spPr>
              <a:xfrm>
                <a:off x="196897" y="196897"/>
                <a:ext cx="553410" cy="553410"/>
              </a:xfrm>
              <a:custGeom>
                <a:avLst/>
                <a:gdLst/>
                <a:ahLst/>
                <a:cxnLst/>
                <a:rect l="l" t="t" r="r" b="b"/>
                <a:pathLst>
                  <a:path w="553410" h="553410">
                    <a:moveTo>
                      <a:pt x="0" y="0"/>
                    </a:moveTo>
                    <a:lnTo>
                      <a:pt x="553410" y="0"/>
                    </a:lnTo>
                    <a:lnTo>
                      <a:pt x="553410" y="553410"/>
                    </a:lnTo>
                    <a:lnTo>
                      <a:pt x="0" y="55341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14" name="TextBox 20">
                <a:extLst>
                  <a:ext uri="{FF2B5EF4-FFF2-40B4-BE49-F238E27FC236}">
                    <a16:creationId xmlns:a16="http://schemas.microsoft.com/office/drawing/2014/main" id="{9B08DB2C-AA4B-90BB-2E6C-A5DAA3B5777F}"/>
                  </a:ext>
                </a:extLst>
              </p:cNvPr>
              <p:cNvSpPr txBox="1"/>
              <p:nvPr/>
            </p:nvSpPr>
            <p:spPr>
              <a:xfrm>
                <a:off x="1421960" y="-123915"/>
                <a:ext cx="6479417" cy="850662"/>
              </a:xfrm>
              <a:prstGeom prst="rect">
                <a:avLst/>
              </a:prstGeom>
            </p:spPr>
            <p:txBody>
              <a:bodyPr wrap="square" lIns="0" tIns="0" rIns="0" bIns="0" rtlCol="0" anchor="t">
                <a:spAutoFit/>
              </a:bodyPr>
              <a:lstStyle/>
              <a:p>
                <a:pPr algn="l">
                  <a:lnSpc>
                    <a:spcPts val="2940"/>
                  </a:lnSpc>
                  <a:spcBef>
                    <a:spcPct val="0"/>
                  </a:spcBef>
                </a:pPr>
                <a:r>
                  <a:rPr lang="en-US" sz="1200" b="1" dirty="0" err="1">
                    <a:solidFill>
                      <a:srgbClr val="000000"/>
                    </a:solidFill>
                    <a:latin typeface="Inter Medium"/>
                    <a:ea typeface="Inter Medium"/>
                    <a:cs typeface="Inter Medium"/>
                    <a:sym typeface="Inter Medium"/>
                  </a:rPr>
                  <a:t>www.elementsenergies.com</a:t>
                </a:r>
                <a:endParaRPr lang="en-US" sz="1200" b="1" dirty="0">
                  <a:solidFill>
                    <a:srgbClr val="000000"/>
                  </a:solidFill>
                  <a:latin typeface="Inter Medium"/>
                  <a:ea typeface="Inter Medium"/>
                  <a:cs typeface="Inter Medium"/>
                  <a:sym typeface="Inter Medium"/>
                </a:endParaRPr>
              </a:p>
            </p:txBody>
          </p:sp>
        </p:grpSp>
        <p:grpSp>
          <p:nvGrpSpPr>
            <p:cNvPr id="17" name="Group 21">
              <a:extLst>
                <a:ext uri="{FF2B5EF4-FFF2-40B4-BE49-F238E27FC236}">
                  <a16:creationId xmlns:a16="http://schemas.microsoft.com/office/drawing/2014/main" id="{C6F6EE72-8FB0-335D-FF5C-B0A2A7FC2175}"/>
                </a:ext>
              </a:extLst>
            </p:cNvPr>
            <p:cNvGrpSpPr/>
            <p:nvPr/>
          </p:nvGrpSpPr>
          <p:grpSpPr>
            <a:xfrm>
              <a:off x="11534086" y="8360235"/>
              <a:ext cx="6073707" cy="803341"/>
              <a:chOff x="0" y="-123917"/>
              <a:chExt cx="8098275" cy="1071121"/>
            </a:xfrm>
          </p:grpSpPr>
          <p:grpSp>
            <p:nvGrpSpPr>
              <p:cNvPr id="18" name="Group 22">
                <a:extLst>
                  <a:ext uri="{FF2B5EF4-FFF2-40B4-BE49-F238E27FC236}">
                    <a16:creationId xmlns:a16="http://schemas.microsoft.com/office/drawing/2014/main" id="{B6E58FB3-BD4C-2BEE-519B-ACCB787CDF74}"/>
                  </a:ext>
                </a:extLst>
              </p:cNvPr>
              <p:cNvGrpSpPr/>
              <p:nvPr/>
            </p:nvGrpSpPr>
            <p:grpSpPr>
              <a:xfrm>
                <a:off x="0" y="0"/>
                <a:ext cx="947204" cy="947204"/>
                <a:chOff x="0" y="0"/>
                <a:chExt cx="187102" cy="187102"/>
              </a:xfrm>
            </p:grpSpPr>
            <p:sp>
              <p:nvSpPr>
                <p:cNvPr id="21" name="Freeform 23">
                  <a:extLst>
                    <a:ext uri="{FF2B5EF4-FFF2-40B4-BE49-F238E27FC236}">
                      <a16:creationId xmlns:a16="http://schemas.microsoft.com/office/drawing/2014/main" id="{21C43FED-AB58-5580-23D2-94B4212FD5BE}"/>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22" name="TextBox 24">
                  <a:extLst>
                    <a:ext uri="{FF2B5EF4-FFF2-40B4-BE49-F238E27FC236}">
                      <a16:creationId xmlns:a16="http://schemas.microsoft.com/office/drawing/2014/main" id="{54B53B0E-A841-8CDD-B1B6-67A1054BD2DA}"/>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19" name="Freeform 25">
                <a:extLst>
                  <a:ext uri="{FF2B5EF4-FFF2-40B4-BE49-F238E27FC236}">
                    <a16:creationId xmlns:a16="http://schemas.microsoft.com/office/drawing/2014/main" id="{9433F919-18CD-C62D-F511-8E4B343CEF18}"/>
                  </a:ext>
                </a:extLst>
              </p:cNvPr>
              <p:cNvSpPr/>
              <p:nvPr/>
            </p:nvSpPr>
            <p:spPr>
              <a:xfrm>
                <a:off x="196897" y="266374"/>
                <a:ext cx="553410" cy="414455"/>
              </a:xfrm>
              <a:custGeom>
                <a:avLst/>
                <a:gdLst/>
                <a:ahLst/>
                <a:cxnLst/>
                <a:rect l="l" t="t" r="r" b="b"/>
                <a:pathLst>
                  <a:path w="553410" h="414455">
                    <a:moveTo>
                      <a:pt x="0" y="0"/>
                    </a:moveTo>
                    <a:lnTo>
                      <a:pt x="553410" y="0"/>
                    </a:lnTo>
                    <a:lnTo>
                      <a:pt x="553410" y="414455"/>
                    </a:lnTo>
                    <a:lnTo>
                      <a:pt x="0" y="414455"/>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20" name="TextBox 26">
                <a:extLst>
                  <a:ext uri="{FF2B5EF4-FFF2-40B4-BE49-F238E27FC236}">
                    <a16:creationId xmlns:a16="http://schemas.microsoft.com/office/drawing/2014/main" id="{D8E6E624-EFBA-1A9D-6426-6CF32F0AEB98}"/>
                  </a:ext>
                </a:extLst>
              </p:cNvPr>
              <p:cNvSpPr txBox="1"/>
              <p:nvPr/>
            </p:nvSpPr>
            <p:spPr>
              <a:xfrm>
                <a:off x="1400058" y="-123917"/>
                <a:ext cx="6698217" cy="850661"/>
              </a:xfrm>
              <a:prstGeom prst="rect">
                <a:avLst/>
              </a:prstGeom>
            </p:spPr>
            <p:txBody>
              <a:bodyPr wrap="square" lIns="0" tIns="0" rIns="0" bIns="0" rtlCol="0" anchor="t">
                <a:spAutoFit/>
              </a:bodyPr>
              <a:lstStyle/>
              <a:p>
                <a:pPr algn="l">
                  <a:lnSpc>
                    <a:spcPts val="2940"/>
                  </a:lnSpc>
                  <a:spcBef>
                    <a:spcPct val="0"/>
                  </a:spcBef>
                </a:pPr>
                <a:r>
                  <a:rPr lang="en-US" sz="1200" b="1" dirty="0" err="1">
                    <a:solidFill>
                      <a:srgbClr val="000000"/>
                    </a:solidFill>
                    <a:latin typeface="Inter Medium"/>
                    <a:ea typeface="Inter Medium"/>
                    <a:cs typeface="Inter Medium"/>
                    <a:sym typeface="Inter Medium"/>
                  </a:rPr>
                  <a:t>support@elementsenergies.com</a:t>
                </a:r>
                <a:endParaRPr lang="en-US" sz="1200" b="1" dirty="0">
                  <a:solidFill>
                    <a:srgbClr val="000000"/>
                  </a:solidFill>
                  <a:latin typeface="Inter Medium"/>
                  <a:ea typeface="Inter Medium"/>
                  <a:cs typeface="Inter Medium"/>
                  <a:sym typeface="Inter Medium"/>
                </a:endParaRPr>
              </a:p>
            </p:txBody>
          </p:sp>
        </p:grpSp>
        <p:sp>
          <p:nvSpPr>
            <p:cNvPr id="23" name="TextBox 28">
              <a:extLst>
                <a:ext uri="{FF2B5EF4-FFF2-40B4-BE49-F238E27FC236}">
                  <a16:creationId xmlns:a16="http://schemas.microsoft.com/office/drawing/2014/main" id="{780203F7-5642-D9D8-8D7B-128CA832AE9A}"/>
                </a:ext>
              </a:extLst>
            </p:cNvPr>
            <p:cNvSpPr txBox="1"/>
            <p:nvPr/>
          </p:nvSpPr>
          <p:spPr>
            <a:xfrm>
              <a:off x="4618678" y="2943958"/>
              <a:ext cx="8792398" cy="2100623"/>
            </a:xfrm>
            <a:prstGeom prst="rect">
              <a:avLst/>
            </a:prstGeom>
          </p:spPr>
          <p:txBody>
            <a:bodyPr lIns="0" tIns="0" rIns="0" bIns="0" rtlCol="0" anchor="t">
              <a:spAutoFit/>
            </a:bodyPr>
            <a:lstStyle/>
            <a:p>
              <a:pPr algn="ctr">
                <a:lnSpc>
                  <a:spcPts val="9120"/>
                </a:lnSpc>
              </a:pPr>
              <a:r>
                <a:rPr lang="en-US" sz="5000" b="1" dirty="0">
                  <a:solidFill>
                    <a:srgbClr val="FFFFFF"/>
                  </a:solidFill>
                  <a:latin typeface="Helvetica World Bold"/>
                  <a:ea typeface="Helvetica World Bold"/>
                  <a:cs typeface="Helvetica World Bold"/>
                  <a:sym typeface="Helvetica World Bold"/>
                </a:rPr>
                <a:t>THANK YOU</a:t>
              </a:r>
            </a:p>
          </p:txBody>
        </p:sp>
        <p:sp>
          <p:nvSpPr>
            <p:cNvPr id="24" name="TextBox 29">
              <a:extLst>
                <a:ext uri="{FF2B5EF4-FFF2-40B4-BE49-F238E27FC236}">
                  <a16:creationId xmlns:a16="http://schemas.microsoft.com/office/drawing/2014/main" id="{04C771F6-DE20-001D-0E22-EF0B9E0E9DC5}"/>
                </a:ext>
              </a:extLst>
            </p:cNvPr>
            <p:cNvSpPr txBox="1"/>
            <p:nvPr/>
          </p:nvSpPr>
          <p:spPr>
            <a:xfrm>
              <a:off x="5133804" y="5454478"/>
              <a:ext cx="7762160" cy="1228884"/>
            </a:xfrm>
            <a:prstGeom prst="rect">
              <a:avLst/>
            </a:prstGeom>
          </p:spPr>
          <p:txBody>
            <a:bodyPr lIns="0" tIns="0" rIns="0" bIns="0" rtlCol="0" anchor="t">
              <a:spAutoFit/>
            </a:bodyPr>
            <a:lstStyle/>
            <a:p>
              <a:pPr algn="ctr"/>
              <a:r>
                <a:rPr lang="en-IN" sz="1000" dirty="0">
                  <a:solidFill>
                    <a:schemeClr val="bg1"/>
                  </a:solidFill>
                </a:rPr>
                <a:t>Thank you for taking the time to engage with our work. Your interest and support fuel our journey to decarbonize buildings, empower consumers with data, and build energy systems that are intelligent, efficient, and future-ready.</a:t>
              </a:r>
            </a:p>
          </p:txBody>
        </p:sp>
        <p:sp>
          <p:nvSpPr>
            <p:cNvPr id="27" name="TextBox 29">
              <a:extLst>
                <a:ext uri="{FF2B5EF4-FFF2-40B4-BE49-F238E27FC236}">
                  <a16:creationId xmlns:a16="http://schemas.microsoft.com/office/drawing/2014/main" id="{E852DA84-FB6C-EAA5-4B62-3B6AE77B49B3}"/>
                </a:ext>
              </a:extLst>
            </p:cNvPr>
            <p:cNvSpPr txBox="1"/>
            <p:nvPr/>
          </p:nvSpPr>
          <p:spPr>
            <a:xfrm>
              <a:off x="4137956" y="4893758"/>
              <a:ext cx="9753846" cy="460831"/>
            </a:xfrm>
            <a:prstGeom prst="rect">
              <a:avLst/>
            </a:prstGeom>
          </p:spPr>
          <p:txBody>
            <a:bodyPr wrap="square" lIns="0" tIns="0" rIns="0" bIns="0" rtlCol="0" anchor="t">
              <a:spAutoFit/>
            </a:bodyPr>
            <a:lstStyle/>
            <a:p>
              <a:pPr algn="ctr"/>
              <a:r>
                <a:rPr lang="en-IN" sz="1500" b="1" dirty="0">
                  <a:solidFill>
                    <a:srgbClr val="002060"/>
                  </a:solidFill>
                </a:rPr>
                <a:t>Let’s Design. Build. Operate. a Net-Zero Tomorrow.</a:t>
              </a:r>
            </a:p>
          </p:txBody>
        </p:sp>
      </p:grpSp>
      <p:pic>
        <p:nvPicPr>
          <p:cNvPr id="29" name="Google Shape;304;p1">
            <a:extLst>
              <a:ext uri="{FF2B5EF4-FFF2-40B4-BE49-F238E27FC236}">
                <a16:creationId xmlns:a16="http://schemas.microsoft.com/office/drawing/2014/main" id="{4880D427-9894-EBD5-D192-0C6B290A77B4}"/>
              </a:ext>
            </a:extLst>
          </p:cNvPr>
          <p:cNvPicPr preferRelativeResize="0"/>
          <p:nvPr/>
        </p:nvPicPr>
        <p:blipFill rotWithShape="1">
          <a:blip r:embed="rId8">
            <a:clrChange>
              <a:clrFrom>
                <a:srgbClr val="FFFFFF"/>
              </a:clrFrom>
              <a:clrTo>
                <a:srgbClr val="FFFFFF">
                  <a:alpha val="0"/>
                </a:srgbClr>
              </a:clrTo>
            </a:clrChange>
            <a:alphaModFix/>
          </a:blip>
          <a:srcRect/>
          <a:stretch/>
        </p:blipFill>
        <p:spPr>
          <a:xfrm>
            <a:off x="7459534" y="434983"/>
            <a:ext cx="1008544" cy="721008"/>
          </a:xfrm>
          <a:prstGeom prst="rect">
            <a:avLst/>
          </a:prstGeom>
          <a:noFill/>
          <a:ln>
            <a:noFill/>
          </a:ln>
        </p:spPr>
      </p:pic>
    </p:spTree>
    <p:extLst>
      <p:ext uri="{BB962C8B-B14F-4D97-AF65-F5344CB8AC3E}">
        <p14:creationId xmlns:p14="http://schemas.microsoft.com/office/powerpoint/2010/main" val="44950049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21570</TotalTime>
  <Words>611</Words>
  <Application>Microsoft Office PowerPoint</Application>
  <PresentationFormat>On-screen Show (16:9)</PresentationFormat>
  <Paragraphs>146</Paragraphs>
  <Slides>10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Helvetica World Bold</vt:lpstr>
      <vt:lpstr>Arial</vt:lpstr>
      <vt:lpstr>Aptos Narrow</vt:lpstr>
      <vt:lpstr>Roboto</vt:lpstr>
      <vt:lpstr>Calibri</vt:lpstr>
      <vt:lpstr>Inter Medium</vt:lpstr>
      <vt:lpstr>Simple Light</vt:lpstr>
      <vt:lpstr>Month Year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Monthly Report May 2024</dc:title>
  <dc:creator>Arjun</dc:creator>
  <cp:lastModifiedBy>Tharun Aadith</cp:lastModifiedBy>
  <cp:revision>66</cp:revision>
  <dcterms:modified xsi:type="dcterms:W3CDTF">2026-01-29T04:56:58Z</dcterms:modified>
</cp:coreProperties>
</file>